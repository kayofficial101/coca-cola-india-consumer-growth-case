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9069f4670b41b3" /><Relationship Type="http://schemas.openxmlformats.org/officeDocument/2006/relationships/extended-properties" Target="/docProps/app.xml" Id="Reb110beac2bf408f" /><Relationship Type="http://schemas.openxmlformats.org/officeDocument/2006/relationships/officeDocument" Target="/ppt/presentation.xml" Id="Re5a5964d674847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c4f2c356e446a2"/>
  </p:sldMasterIdLst>
  <p:notesMasterIdLst>
    <p:notesMasterId xmlns:r="http://schemas.openxmlformats.org/officeDocument/2006/relationships" r:id="Rdcae89da6a434131"/>
  </p:notesMasterIdLst>
  <p:sldIdLst>
    <p:sldId xmlns:r="http://schemas.openxmlformats.org/officeDocument/2006/relationships" id="256" r:id="R6734e99c1f664686"/>
    <p:sldId xmlns:r="http://schemas.openxmlformats.org/officeDocument/2006/relationships" id="257" r:id="Rc40935bc9f004ff8"/>
    <p:sldId xmlns:r="http://schemas.openxmlformats.org/officeDocument/2006/relationships" id="258" r:id="R5eaedc987e944ccb"/>
    <p:sldId xmlns:r="http://schemas.openxmlformats.org/officeDocument/2006/relationships" id="259" r:id="R1cc8f135edb7410a"/>
    <p:sldId xmlns:r="http://schemas.openxmlformats.org/officeDocument/2006/relationships" id="260" r:id="R8c8071ba953c4e2c"/>
    <p:sldId xmlns:r="http://schemas.openxmlformats.org/officeDocument/2006/relationships" id="261" r:id="R611fd980da934449"/>
    <p:sldId xmlns:r="http://schemas.openxmlformats.org/officeDocument/2006/relationships" id="262" r:id="Rd004dd8160414786"/>
    <p:sldId xmlns:r="http://schemas.openxmlformats.org/officeDocument/2006/relationships" id="263" r:id="R9eef925a46644ea7"/>
    <p:sldId xmlns:r="http://schemas.openxmlformats.org/officeDocument/2006/relationships" id="264" r:id="Ra6582bad71394e3f"/>
    <p:sldId xmlns:r="http://schemas.openxmlformats.org/officeDocument/2006/relationships" id="265" r:id="R4442db7aecd247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9dc3edec7747b9" /><Relationship Type="http://schemas.openxmlformats.org/officeDocument/2006/relationships/slideMaster" Target="/ppt/slideMasters/slideMaster1.xml" Id="R6fc4f2c356e446a2" /><Relationship Type="http://schemas.openxmlformats.org/officeDocument/2006/relationships/notesMaster" Target="/ppt/notesMasters/notesMaster1.xml" Id="Rdcae89da6a434131" /><Relationship Type="http://schemas.openxmlformats.org/officeDocument/2006/relationships/presProps" Target="/ppt/presProps.xml" Id="R022edcc073844745" /><Relationship Type="http://schemas.openxmlformats.org/officeDocument/2006/relationships/tableStyles" Target="/ppt/tableStyles.xml" Id="R3deb347f4be643a9" /><Relationship Type="http://schemas.openxmlformats.org/officeDocument/2006/relationships/slide" Target="/ppt/slides/slide1.xml" Id="R6734e99c1f664686" /><Relationship Type="http://schemas.openxmlformats.org/officeDocument/2006/relationships/slide" Target="/ppt/slides/slide2.xml" Id="Rc40935bc9f004ff8" /><Relationship Type="http://schemas.openxmlformats.org/officeDocument/2006/relationships/slide" Target="/ppt/slides/slide3.xml" Id="R5eaedc987e944ccb" /><Relationship Type="http://schemas.openxmlformats.org/officeDocument/2006/relationships/slide" Target="/ppt/slides/slide4.xml" Id="R1cc8f135edb7410a" /><Relationship Type="http://schemas.openxmlformats.org/officeDocument/2006/relationships/slide" Target="/ppt/slides/slide5.xml" Id="R8c8071ba953c4e2c" /><Relationship Type="http://schemas.openxmlformats.org/officeDocument/2006/relationships/slide" Target="/ppt/slides/slide6.xml" Id="R611fd980da934449" /><Relationship Type="http://schemas.openxmlformats.org/officeDocument/2006/relationships/slide" Target="/ppt/slides/slide7.xml" Id="Rd004dd8160414786" /><Relationship Type="http://schemas.openxmlformats.org/officeDocument/2006/relationships/slide" Target="/ppt/slides/slide8.xml" Id="R9eef925a46644ea7" /><Relationship Type="http://schemas.openxmlformats.org/officeDocument/2006/relationships/slide" Target="/ppt/slides/slide9.xml" Id="Ra6582bad71394e3f" /><Relationship Type="http://schemas.openxmlformats.org/officeDocument/2006/relationships/slide" Target="/ppt/slides/slide10.xml" Id="R4442db7aecd247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e2c07baf9441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04687f9d034755" /><Relationship Type="http://schemas.openxmlformats.org/officeDocument/2006/relationships/notesMaster" Target="/ppt/notesMasters/notesMaster1.xml" Id="R8f7297861df14d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fda14c6b2b46b0" /><Relationship Type="http://schemas.openxmlformats.org/officeDocument/2006/relationships/notesMaster" Target="/ppt/notesMasters/notesMaster1.xml" Id="Re6724a5420f74c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36f0d46af64cdd" /><Relationship Type="http://schemas.openxmlformats.org/officeDocument/2006/relationships/notesMaster" Target="/ppt/notesMasters/notesMaster1.xml" Id="R6ff3a543ae1148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993c2d93e94fe7" /><Relationship Type="http://schemas.openxmlformats.org/officeDocument/2006/relationships/notesMaster" Target="/ppt/notesMasters/notesMaster1.xml" Id="Rcd35b668ef7f4d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da451500d040d7" /><Relationship Type="http://schemas.openxmlformats.org/officeDocument/2006/relationships/notesMaster" Target="/ppt/notesMasters/notesMaster1.xml" Id="Rd9c2d581e7f249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ad5a1dcc8940b6" /><Relationship Type="http://schemas.openxmlformats.org/officeDocument/2006/relationships/notesMaster" Target="/ppt/notesMasters/notesMaster1.xml" Id="R3db045eed9a547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282030834b4f20" /><Relationship Type="http://schemas.openxmlformats.org/officeDocument/2006/relationships/notesMaster" Target="/ppt/notesMasters/notesMaster1.xml" Id="Rc9dbd406bafa44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b9c43a954f4bd0" /><Relationship Type="http://schemas.openxmlformats.org/officeDocument/2006/relationships/notesMaster" Target="/ppt/notesMasters/notesMaster1.xml" Id="R84848f7cea3c45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2872e3a9224f28" /><Relationship Type="http://schemas.openxmlformats.org/officeDocument/2006/relationships/notesMaster" Target="/ppt/notesMasters/notesMaster1.xml" Id="R86c8c608753240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32dc903b7a4af3" /><Relationship Type="http://schemas.openxmlformats.org/officeDocument/2006/relationships/notesMaster" Target="/ppt/notesMasters/notesMaster1.xml" Id="Rc7fa77dfb2db4a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https://www.coca-colacompany.com/media-center/coca-cola-reports-first-quarter-2025-results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Independent public-source case. I did not work for Coca-Cola.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https://www.coca-colacompany.com/media-center/coca-cola-reports-first-quarter-2025-results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https://www.coca-colacompany.com/media-center/coca-cola-reports-first-quarter-2025-results</a:t>
            </a:r>
          </a:p>
          <a:p xmlns:a="http://schemas.openxmlformats.org/drawingml/2006/main">
            <a:r>
              <a:t>https://www.sec.gov/Archives/edgar/data/21344/000162828026010047/ko-20251231.htm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interpretation is the author's inference from two differently scoped reporting periods.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https://doi.org/10.1108/JSTP-08-2019-0181</a:t>
            </a:r>
          </a:p>
          <a:p xmlns:a="http://schemas.openxmlformats.org/drawingml/2006/main">
            <a:r>
              <a:t>https://experts.umn.edu/en/publications/self-reference-effect-and-consumer-brands/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five-stage loop is the author's proposed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pilot design is the author's recommendation.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metric hierarchy is the author's proposal.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https://www.sec.gov/Archives/edgar/data/21344/000162828026010047/ko-20251231.htm</a:t>
            </a:r>
          </a:p>
          <a:p xmlns:a="http://schemas.openxmlformats.org/drawingml/2006/main">
            <a:r>
              <a:t>https://www.coca-colacompany.com/content/dam/corporate/us/en/media-center/Coca-Cola-2025-Q2-Earnings-Release-Full-Release-7.22.25.pdf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90-day plan is the author's recommendation.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https://www.coca-colacompany.com/media-center/coca-cola-reports-first-quarter-2025-results</a:t>
            </a:r>
          </a:p>
          <a:p xmlns:a="http://schemas.openxmlformats.org/drawingml/2006/main">
            <a:r>
              <a:t>https://www.sec.gov/Archives/edgar/data/21344/000162828026010047/ko-20251231.htm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9dadafe79a45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a3f595a3b043d7" /><Relationship Type="http://schemas.openxmlformats.org/officeDocument/2006/relationships/slideLayout" Target="/ppt/slideLayouts/slideLayout1.xml" Id="R7ddb115d39dc47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db115d39dc47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c224b209341d0" /><Relationship Type="http://schemas.openxmlformats.org/officeDocument/2006/relationships/notesSlide" Target="/ppt/notesSlides/notesSlide1.xml" Id="R33b0e55a66e549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e12cfc2084044" /><Relationship Type="http://schemas.openxmlformats.org/officeDocument/2006/relationships/notesSlide" Target="/ppt/notesSlides/notesSlide2.xml" Id="Rcdd55e697cfb4f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741d4ce8c4d52" /><Relationship Type="http://schemas.openxmlformats.org/officeDocument/2006/relationships/notesSlide" Target="/ppt/notesSlides/notesSlide3.xml" Id="Rf4c6e2c6575545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1099e5eca4e1c" /><Relationship Type="http://schemas.openxmlformats.org/officeDocument/2006/relationships/notesSlide" Target="/ppt/notesSlides/notesSlide4.xml" Id="Ra6f9554f526d4d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e5de0e86f4acf" /><Relationship Type="http://schemas.openxmlformats.org/officeDocument/2006/relationships/notesSlide" Target="/ppt/notesSlides/notesSlide5.xml" Id="Re79834147e1543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1a7d2b487422f" /><Relationship Type="http://schemas.openxmlformats.org/officeDocument/2006/relationships/notesSlide" Target="/ppt/notesSlides/notesSlide6.xml" Id="R6a9b81e9fc9343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1d10e8fd64f80" /><Relationship Type="http://schemas.openxmlformats.org/officeDocument/2006/relationships/notesSlide" Target="/ppt/notesSlides/notesSlide7.xml" Id="R3389d85182174d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d189ec0864b81" /><Relationship Type="http://schemas.openxmlformats.org/officeDocument/2006/relationships/notesSlide" Target="/ppt/notesSlides/notesSlide8.xml" Id="R7558d780164344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5c2ee998a42ef" /><Relationship Type="http://schemas.openxmlformats.org/officeDocument/2006/relationships/notesSlide" Target="/ppt/notesSlides/notesSlide9.xml" Id="R1b9c79fe2baf4e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7a63a7e39420a" /><Relationship Type="http://schemas.openxmlformats.org/officeDocument/2006/relationships/notesSlide" Target="/ppt/notesSlides/notesSlide10.xml" Id="R9148c048adca46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DD5103-567E-4D07-84CD-D627220A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yr1cbs6yp5">
            <a:extLst xmlns:a="http://schemas.openxmlformats.org/drawingml/2006/main">
              <a:ext uri="{FF2B5EF4-FFF2-40B4-BE49-F238E27FC236}">
                <a16:creationId xmlns:a16="http://schemas.microsoft.com/office/drawing/2014/main" id="{7C74B9AD-F080-43ED-B9FD-21974113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INDEPENDENT PUBLIC-SOURCE CASE</a:t>
            </a:r>
          </a:p>
        </p:txBody>
      </p:sp>
      <p:sp>
        <p:nvSpPr>
          <p:cNvPr id="3" name="text-bjrd2pc70t9">
            <a:extLst xmlns:a="http://schemas.openxmlformats.org/drawingml/2006/main">
              <a:ext uri="{FF2B5EF4-FFF2-40B4-BE49-F238E27FC236}">
                <a16:creationId xmlns:a16="http://schemas.microsoft.com/office/drawing/2014/main" id="{63CF8678-BF47-4E9A-968A-A0C403AC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Turning big moments into repeatable Coca-Cola occasions in India</a:t>
            </a:r>
          </a:p>
        </p:txBody>
      </p:sp>
      <p:sp>
        <p:nvSpPr>
          <p:cNvPr id="4" name="text-znpnb3eq3on">
            <a:extLst xmlns:a="http://schemas.openxmlformats.org/drawingml/2006/main">
              <a:ext uri="{FF2B5EF4-FFF2-40B4-BE49-F238E27FC236}">
                <a16:creationId xmlns:a16="http://schemas.microsoft.com/office/drawing/2014/main" id="{4A2FDC17-7190-49CD-B748-647FDE46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A consumer-growth strategy built around personalization, affordability and measurable repeat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F6134-D5FC-4E5F-BDA8-4CDBB296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0"/>
            <a:ext cx="401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038921vgmvf">
            <a:extLst xmlns:a="http://schemas.openxmlformats.org/drawingml/2006/main">
              <a:ext uri="{FF2B5EF4-FFF2-40B4-BE49-F238E27FC236}">
                <a16:creationId xmlns:a16="http://schemas.microsoft.com/office/drawing/2014/main" id="{F6168E8F-2C98-45F5-AEDB-B8936DC1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52625"/>
            <a:ext cx="295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180M+</a:t>
            </a:r>
          </a:p>
        </p:txBody>
      </p:sp>
      <p:sp>
        <p:nvSpPr>
          <p:cNvPr id="7" name="text-cjjnys3ryo5">
            <a:extLst xmlns:a="http://schemas.openxmlformats.org/drawingml/2006/main">
              <a:ext uri="{FF2B5EF4-FFF2-40B4-BE49-F238E27FC236}">
                <a16:creationId xmlns:a16="http://schemas.microsoft.com/office/drawing/2014/main" id="{3F0290BA-7F79-4E70-A772-EBC116D5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servings reported at the 2025 Maha Kumbh activation</a:t>
            </a:r>
          </a:p>
        </p:txBody>
      </p:sp>
      <p:sp>
        <p:nvSpPr>
          <p:cNvPr id="8" name="text-abnlh0hokcj">
            <a:extLst xmlns:a="http://schemas.openxmlformats.org/drawingml/2006/main">
              <a:ext uri="{FF2B5EF4-FFF2-40B4-BE49-F238E27FC236}">
                <a16:creationId xmlns:a16="http://schemas.microsoft.com/office/drawing/2014/main" id="{93524D25-558A-48F1-9A12-0F66C8BE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Keshav Kapoor  |  2026</a:t>
            </a:r>
          </a:p>
        </p:txBody>
      </p:sp>
    </p:spTree>
    <p:extLst>
      <p:ext uri="{BB962C8B-B14F-4D97-AF65-F5344CB8AC3E}">
        <p14:creationId xmlns:p14="http://schemas.microsoft.com/office/powerpoint/2010/main" val="2589648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310vsc4udve">
            <a:extLst xmlns:a="http://schemas.openxmlformats.org/drawingml/2006/main">
              <a:ext uri="{FF2B5EF4-FFF2-40B4-BE49-F238E27FC236}">
                <a16:creationId xmlns:a16="http://schemas.microsoft.com/office/drawing/2014/main" id="{A43D153D-A40C-4777-BEE9-244C5AF2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26ziq8fyjjh">
            <a:extLst xmlns:a="http://schemas.openxmlformats.org/drawingml/2006/main">
              <a:ext uri="{FF2B5EF4-FFF2-40B4-BE49-F238E27FC236}">
                <a16:creationId xmlns:a16="http://schemas.microsoft.com/office/drawing/2014/main" id="{3C70B14A-DE60-4D64-87D1-D12D2AF9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growth opportunity is not one more campaign</a:t>
            </a:r>
          </a:p>
        </p:txBody>
      </p:sp>
      <p:sp>
        <p:nvSpPr>
          <p:cNvPr id="3" name="text-cscz67vlyva">
            <a:extLst xmlns:a="http://schemas.openxmlformats.org/drawingml/2006/main">
              <a:ext uri="{FF2B5EF4-FFF2-40B4-BE49-F238E27FC236}">
                <a16:creationId xmlns:a16="http://schemas.microsoft.com/office/drawing/2014/main" id="{298BEBB1-DF87-4639-8006-27706F94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text-qsjbvihe80g">
            <a:extLst xmlns:a="http://schemas.openxmlformats.org/drawingml/2006/main">
              <a:ext uri="{FF2B5EF4-FFF2-40B4-BE49-F238E27FC236}">
                <a16:creationId xmlns:a16="http://schemas.microsoft.com/office/drawing/2014/main" id="{52602DA3-FD6D-46E0-B49D-39B36399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62125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It is an occasion-to-habit system.</a:t>
            </a:r>
          </a:p>
        </p:txBody>
      </p:sp>
      <p:sp>
        <p:nvSpPr>
          <p:cNvPr id="5" name="text-gbc81knm0iv">
            <a:extLst xmlns:a="http://schemas.openxmlformats.org/drawingml/2006/main">
              <a:ext uri="{FF2B5EF4-FFF2-40B4-BE49-F238E27FC236}">
                <a16:creationId xmlns:a16="http://schemas.microsoft.com/office/drawing/2014/main" id="{B9D57A50-BB96-4FFC-898D-02310647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00350"/>
            <a:ext cx="68103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the reach of a festival, campus moment or group celebration to create trial. Then give the shared drink a clear second occasion, an available pack and a reason to return.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24CF8-9EC6-4F05-81B2-8317E2E7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62125"/>
            <a:ext cx="34290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m4vlac7uxol">
            <a:extLst xmlns:a="http://schemas.openxmlformats.org/drawingml/2006/main">
              <a:ext uri="{FF2B5EF4-FFF2-40B4-BE49-F238E27FC236}">
                <a16:creationId xmlns:a16="http://schemas.microsoft.com/office/drawing/2014/main" id="{75020A4E-19C8-45A1-9CEC-9AFF714D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764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logic</a:t>
            </a:r>
          </a:p>
        </p:txBody>
      </p:sp>
      <p:sp>
        <p:nvSpPr>
          <p:cNvPr id="8" name="text-uubdf3qekzn">
            <a:extLst xmlns:a="http://schemas.openxmlformats.org/drawingml/2006/main">
              <a:ext uri="{FF2B5EF4-FFF2-40B4-BE49-F238E27FC236}">
                <a16:creationId xmlns:a16="http://schemas.microsoft.com/office/drawing/2014/main" id="{B7B859CE-E1B2-4384-BC8F-0FA41411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2571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232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  Win a real occasion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  Make the pack personally relevant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  Prompt a second group 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  Measure transactions and repeat</a:t>
            </a:r>
          </a:p>
        </p:txBody>
      </p:sp>
      <p:sp>
        <p:nvSpPr>
          <p:cNvPr id="9" name="text-rpq868axokg">
            <a:extLst xmlns:a="http://schemas.openxmlformats.org/drawingml/2006/main">
              <a:ext uri="{FF2B5EF4-FFF2-40B4-BE49-F238E27FC236}">
                <a16:creationId xmlns:a16="http://schemas.microsoft.com/office/drawing/2014/main" id="{DD5E93F8-8B80-4000-93F3-65D7BDEE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7687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This is a testable growth loop, not a claim about Coca-Cola's internal strategy.</a:t>
            </a:r>
          </a:p>
        </p:txBody>
      </p:sp>
    </p:spTree>
    <p:extLst>
      <p:ext uri="{BB962C8B-B14F-4D97-AF65-F5344CB8AC3E}">
        <p14:creationId xmlns:p14="http://schemas.microsoft.com/office/powerpoint/2010/main" val="5509343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escdsn7o41v">
            <a:extLst xmlns:a="http://schemas.openxmlformats.org/drawingml/2006/main">
              <a:ext uri="{FF2B5EF4-FFF2-40B4-BE49-F238E27FC236}">
                <a16:creationId xmlns:a16="http://schemas.microsoft.com/office/drawing/2014/main" id="{6A067A50-C5C9-44EE-9AC1-6E61802B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w7ap99c6rye">
            <a:extLst xmlns:a="http://schemas.openxmlformats.org/drawingml/2006/main">
              <a:ext uri="{FF2B5EF4-FFF2-40B4-BE49-F238E27FC236}">
                <a16:creationId xmlns:a16="http://schemas.microsoft.com/office/drawing/2014/main" id="{3D14E118-E6F6-4693-B046-C119FB3A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public signal is a spike, not yet proof of a habit</a:t>
            </a:r>
          </a:p>
        </p:txBody>
      </p:sp>
      <p:sp>
        <p:nvSpPr>
          <p:cNvPr id="3" name="text-2n41copztfc">
            <a:extLst xmlns:a="http://schemas.openxmlformats.org/drawingml/2006/main">
              <a:ext uri="{FF2B5EF4-FFF2-40B4-BE49-F238E27FC236}">
                <a16:creationId xmlns:a16="http://schemas.microsoft.com/office/drawing/2014/main" id="{396E4CC5-9082-432B-8882-732C0BCF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904875" y="3333750"/>
            <a:ext cx="10096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0E0378-4BB8-45D7-9AD5-F0995C87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q5sopl50v6">
            <a:extLst xmlns:a="http://schemas.openxmlformats.org/drawingml/2006/main">
              <a:ext uri="{FF2B5EF4-FFF2-40B4-BE49-F238E27FC236}">
                <a16:creationId xmlns:a16="http://schemas.microsoft.com/office/drawing/2014/main" id="{2294FE50-05DD-4E68-902B-962241E1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MAHA KUMBH</a:t>
            </a:r>
          </a:p>
        </p:txBody>
      </p:sp>
      <p:sp>
        <p:nvSpPr>
          <p:cNvPr id="7" name="text-pdf1e2stfup">
            <a:extLst xmlns:a="http://schemas.openxmlformats.org/drawingml/2006/main">
              <a:ext uri="{FF2B5EF4-FFF2-40B4-BE49-F238E27FC236}">
                <a16:creationId xmlns:a16="http://schemas.microsoft.com/office/drawing/2014/main" id="{BD90B5C0-50F7-4F81-BD3D-AC67C505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180M+</a:t>
            </a:r>
          </a:p>
        </p:txBody>
      </p:sp>
      <p:sp>
        <p:nvSpPr>
          <p:cNvPr id="8" name="text-7ls38ii1sjr">
            <a:extLst xmlns:a="http://schemas.openxmlformats.org/drawingml/2006/main">
              <a:ext uri="{FF2B5EF4-FFF2-40B4-BE49-F238E27FC236}">
                <a16:creationId xmlns:a16="http://schemas.microsoft.com/office/drawing/2014/main" id="{CACEA017-C29F-4C73-99C4-EC181BA1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33800"/>
            <a:ext cx="266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servings reported during the activation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45A3D-ABF7-44EC-97F1-EC24E3F5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00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-sll3mrl8ueh">
            <a:extLst xmlns:a="http://schemas.openxmlformats.org/drawingml/2006/main">
              <a:ext uri="{FF2B5EF4-FFF2-40B4-BE49-F238E27FC236}">
                <a16:creationId xmlns:a16="http://schemas.microsoft.com/office/drawing/2014/main" id="{0AF6C92D-18D5-40EE-9F87-BCCE7BB5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Q1 2025 INDIA</a:t>
            </a:r>
          </a:p>
        </p:txBody>
      </p:sp>
      <p:sp>
        <p:nvSpPr>
          <p:cNvPr id="11" name="text-p161q3ichnh">
            <a:extLst xmlns:a="http://schemas.openxmlformats.org/drawingml/2006/main">
              <a:ext uri="{FF2B5EF4-FFF2-40B4-BE49-F238E27FC236}">
                <a16:creationId xmlns:a16="http://schemas.microsoft.com/office/drawing/2014/main" id="{624A9278-AF03-4AC0-B9B5-B9BF38BD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8125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Double-digit</a:t>
            </a:r>
          </a:p>
        </p:txBody>
      </p:sp>
      <p:sp>
        <p:nvSpPr>
          <p:cNvPr id="12" name="text-d78w3za2a9r">
            <a:extLst xmlns:a="http://schemas.openxmlformats.org/drawingml/2006/main">
              <a:ext uri="{FF2B5EF4-FFF2-40B4-BE49-F238E27FC236}">
                <a16:creationId xmlns:a16="http://schemas.microsoft.com/office/drawing/2014/main" id="{34209E3D-8897-4F3A-AABE-F1A4BBFE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33800"/>
            <a:ext cx="266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unit-case volume growth reported for the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532D35-A024-452C-94D0-DCF2764E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00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ozfee51672">
            <a:extLst xmlns:a="http://schemas.openxmlformats.org/drawingml/2006/main">
              <a:ext uri="{FF2B5EF4-FFF2-40B4-BE49-F238E27FC236}">
                <a16:creationId xmlns:a16="http://schemas.microsoft.com/office/drawing/2014/main" id="{46CB2C3C-397C-4984-A160-1DB5BC19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FULL-YEAR 2025</a:t>
            </a:r>
          </a:p>
        </p:txBody>
      </p:sp>
      <p:sp>
        <p:nvSpPr>
          <p:cNvPr id="15" name="text-f0sp7c540wd">
            <a:extLst xmlns:a="http://schemas.openxmlformats.org/drawingml/2006/main">
              <a:ext uri="{FF2B5EF4-FFF2-40B4-BE49-F238E27FC236}">
                <a16:creationId xmlns:a16="http://schemas.microsoft.com/office/drawing/2014/main" id="{F8378179-75B3-43D4-9034-7A014271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Even</a:t>
            </a:r>
          </a:p>
        </p:txBody>
      </p:sp>
      <p:sp>
        <p:nvSpPr>
          <p:cNvPr id="16" name="text-psk2s7jgnj">
            <a:extLst xmlns:a="http://schemas.openxmlformats.org/drawingml/2006/main">
              <a:ext uri="{FF2B5EF4-FFF2-40B4-BE49-F238E27FC236}">
                <a16:creationId xmlns:a16="http://schemas.microsoft.com/office/drawing/2014/main" id="{D406363D-AE2E-43F0-96AE-A446FD12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266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unit-case volume for India and Southwest Asia</a:t>
            </a:r>
          </a:p>
        </p:txBody>
      </p:sp>
      <p:sp>
        <p:nvSpPr>
          <p:cNvPr id="17" name="text-8u1zacv3mdu">
            <a:extLst xmlns:a="http://schemas.openxmlformats.org/drawingml/2006/main">
              <a:ext uri="{FF2B5EF4-FFF2-40B4-BE49-F238E27FC236}">
                <a16:creationId xmlns:a16="http://schemas.microsoft.com/office/drawing/2014/main" id="{FCAAB0DC-FEAC-4FFE-8662-EA8BA19F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24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My inference</a:t>
            </a:r>
          </a:p>
        </p:txBody>
      </p:sp>
      <p:sp>
        <p:nvSpPr>
          <p:cNvPr id="18" name="text-6pifyduj5ug">
            <a:extLst xmlns:a="http://schemas.openxmlformats.org/drawingml/2006/main">
              <a:ext uri="{FF2B5EF4-FFF2-40B4-BE49-F238E27FC236}">
                <a16:creationId xmlns:a16="http://schemas.microsoft.com/office/drawing/2014/main" id="{58CC8799-0B81-4989-B18E-BEE9A6EC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activation clearly created reach. The full-year number makes repeat the more valuable question. These periods are not directly comparable, so the answer needs an experiment, not a confident story.</a:t>
            </a:r>
          </a:p>
        </p:txBody>
      </p:sp>
    </p:spTree>
    <p:extLst>
      <p:ext uri="{BB962C8B-B14F-4D97-AF65-F5344CB8AC3E}">
        <p14:creationId xmlns:p14="http://schemas.microsoft.com/office/powerpoint/2010/main" val="19493435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wfp9kmp675">
            <a:extLst xmlns:a="http://schemas.openxmlformats.org/drawingml/2006/main">
              <a:ext uri="{FF2B5EF4-FFF2-40B4-BE49-F238E27FC236}">
                <a16:creationId xmlns:a16="http://schemas.microsoft.com/office/drawing/2014/main" id="{0D3ED4E2-1B2E-44D3-882C-017BEFB2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m95ktetsjzm">
            <a:extLst xmlns:a="http://schemas.openxmlformats.org/drawingml/2006/main">
              <a:ext uri="{FF2B5EF4-FFF2-40B4-BE49-F238E27FC236}">
                <a16:creationId xmlns:a16="http://schemas.microsoft.com/office/drawing/2014/main" id="{22E78715-6464-4F86-A746-76B8D7DF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49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Personalization works when the pack feels personal and shareable</a:t>
            </a:r>
          </a:p>
        </p:txBody>
      </p:sp>
      <p:sp>
        <p:nvSpPr>
          <p:cNvPr id="3" name="text-ao2orhw5hwb">
            <a:extLst xmlns:a="http://schemas.openxmlformats.org/drawingml/2006/main">
              <a:ext uri="{FF2B5EF4-FFF2-40B4-BE49-F238E27FC236}">
                <a16:creationId xmlns:a16="http://schemas.microsoft.com/office/drawing/2014/main" id="{78C4D8A2-95A3-4FA3-B7D2-DC67AD84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text-91jgkhbw31j">
            <a:extLst xmlns:a="http://schemas.openxmlformats.org/drawingml/2006/main">
              <a:ext uri="{FF2B5EF4-FFF2-40B4-BE49-F238E27FC236}">
                <a16:creationId xmlns:a16="http://schemas.microsoft.com/office/drawing/2014/main" id="{31B70F4E-C52D-4A71-AE9A-A5CBFEB6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095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SELF CUE</a:t>
            </a:r>
          </a:p>
        </p:txBody>
      </p:sp>
      <p:sp>
        <p:nvSpPr>
          <p:cNvPr id="5" name="text-mk9dfs2qyr">
            <a:extLst xmlns:a="http://schemas.openxmlformats.org/drawingml/2006/main">
              <a:ext uri="{FF2B5EF4-FFF2-40B4-BE49-F238E27FC236}">
                <a16:creationId xmlns:a16="http://schemas.microsoft.com/office/drawing/2014/main" id="{D9148BC4-FAEE-4BBB-A811-B5CDA9A1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feels like mine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14350" y="3048000"/>
            <a:ext cx="3048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7" name="text-xx54e3kv5ya">
            <a:extLst xmlns:a="http://schemas.openxmlformats.org/drawingml/2006/main">
              <a:ext uri="{FF2B5EF4-FFF2-40B4-BE49-F238E27FC236}">
                <a16:creationId xmlns:a16="http://schemas.microsoft.com/office/drawing/2014/main" id="{0F986EB1-604A-4E1A-87F0-CC39119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3095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Self-referential processing can make brand information easier to remember.</a:t>
            </a:r>
          </a:p>
        </p:txBody>
      </p:sp>
      <p:sp>
        <p:nvSpPr>
          <p:cNvPr id="8" name="text-d752jblehe6">
            <a:extLst xmlns:a="http://schemas.openxmlformats.org/drawingml/2006/main">
              <a:ext uri="{FF2B5EF4-FFF2-40B4-BE49-F238E27FC236}">
                <a16:creationId xmlns:a16="http://schemas.microsoft.com/office/drawing/2014/main" id="{2D3C1847-21D3-425D-998D-5523DC5A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09750"/>
            <a:ext cx="3095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9" name="text-0l93zxmhfo">
            <a:extLst xmlns:a="http://schemas.openxmlformats.org/drawingml/2006/main">
              <a:ext uri="{FF2B5EF4-FFF2-40B4-BE49-F238E27FC236}">
                <a16:creationId xmlns:a16="http://schemas.microsoft.com/office/drawing/2014/main" id="{02715694-6673-41C8-9176-F685AA3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098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 helped choose it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248150" y="3048000"/>
            <a:ext cx="3048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41E2B"/>
            </a:solidFill>
            <a:prstDash val="solid"/>
          </a:ln>
        </p:spPr>
      </p:cxnSp>
      <p:sp>
        <p:nvSpPr>
          <p:cNvPr id="11" name="text-uf3on6193kk">
            <a:extLst xmlns:a="http://schemas.openxmlformats.org/drawingml/2006/main">
              <a:ext uri="{FF2B5EF4-FFF2-40B4-BE49-F238E27FC236}">
                <a16:creationId xmlns:a16="http://schemas.microsoft.com/office/drawing/2014/main" id="{EA858077-E885-4EB0-8CEE-3AC3C49A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33750"/>
            <a:ext cx="3095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study on adding a customer's name to a standard product linked the effect to psychological ownership and product attitude.</a:t>
            </a:r>
          </a:p>
        </p:txBody>
      </p:sp>
      <p:sp>
        <p:nvSpPr>
          <p:cNvPr id="12" name="text-z6b8u1ov2q8">
            <a:extLst xmlns:a="http://schemas.openxmlformats.org/drawingml/2006/main">
              <a:ext uri="{FF2B5EF4-FFF2-40B4-BE49-F238E27FC236}">
                <a16:creationId xmlns:a16="http://schemas.microsoft.com/office/drawing/2014/main" id="{A112509F-5F01-468C-8B49-F9323107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09750"/>
            <a:ext cx="3095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SHARING</a:t>
            </a:r>
          </a:p>
        </p:txBody>
      </p:sp>
      <p:sp>
        <p:nvSpPr>
          <p:cNvPr id="13" name="text-dx8ix8i0lag">
            <a:extLst xmlns:a="http://schemas.openxmlformats.org/drawingml/2006/main">
              <a:ext uri="{FF2B5EF4-FFF2-40B4-BE49-F238E27FC236}">
                <a16:creationId xmlns:a16="http://schemas.microsoft.com/office/drawing/2014/main" id="{04B0C3F2-16C6-4EEA-9269-FFE0B7F4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098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for someone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7981950" y="3048000"/>
            <a:ext cx="3048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5" name="text-vlpq4ho2zji">
            <a:extLst xmlns:a="http://schemas.openxmlformats.org/drawingml/2006/main">
              <a:ext uri="{FF2B5EF4-FFF2-40B4-BE49-F238E27FC236}">
                <a16:creationId xmlns:a16="http://schemas.microsoft.com/office/drawing/2014/main" id="{409B8732-5C5F-475C-A003-7EF97F49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3095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Share a Coke turns packaging into an invitation to give, post or start a group moment.</a:t>
            </a:r>
          </a:p>
        </p:txBody>
      </p:sp>
      <p:sp>
        <p:nvSpPr>
          <p:cNvPr id="16" name="text-pw9kkdmo1nj">
            <a:extLst xmlns:a="http://schemas.openxmlformats.org/drawingml/2006/main">
              <a:ext uri="{FF2B5EF4-FFF2-40B4-BE49-F238E27FC236}">
                <a16:creationId xmlns:a16="http://schemas.microsoft.com/office/drawing/2014/main" id="{C2820A50-30E3-41A2-8549-5489BC1B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Design implication</a:t>
            </a:r>
          </a:p>
        </p:txBody>
      </p:sp>
      <p:sp>
        <p:nvSpPr>
          <p:cNvPr id="17" name="text-p3htuj9dre">
            <a:extLst xmlns:a="http://schemas.openxmlformats.org/drawingml/2006/main">
              <a:ext uri="{FF2B5EF4-FFF2-40B4-BE49-F238E27FC236}">
                <a16:creationId xmlns:a16="http://schemas.microsoft.com/office/drawing/2014/main" id="{92265E74-A65B-4D7F-9E83-1A22102B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467350"/>
            <a:ext cx="919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Do not stop at printing names. Tie the cue to a real relationship and a second occasion that can be observed at the outlet.</a:t>
            </a:r>
          </a:p>
        </p:txBody>
      </p:sp>
    </p:spTree>
    <p:extLst>
      <p:ext uri="{BB962C8B-B14F-4D97-AF65-F5344CB8AC3E}">
        <p14:creationId xmlns:p14="http://schemas.microsoft.com/office/powerpoint/2010/main" val="4032699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vzcm5xu2akf">
            <a:extLst xmlns:a="http://schemas.openxmlformats.org/drawingml/2006/main">
              <a:ext uri="{FF2B5EF4-FFF2-40B4-BE49-F238E27FC236}">
                <a16:creationId xmlns:a16="http://schemas.microsoft.com/office/drawing/2014/main" id="{D4FACC05-CEA6-479E-AF55-C61FA268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qnhgbclj99p">
            <a:extLst xmlns:a="http://schemas.openxmlformats.org/drawingml/2006/main">
              <a:ext uri="{FF2B5EF4-FFF2-40B4-BE49-F238E27FC236}">
                <a16:creationId xmlns:a16="http://schemas.microsoft.com/office/drawing/2014/main" id="{A474E1DF-4010-4DE5-832D-BDFA5C06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22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missing bridge sits between the first share and the second buy</a:t>
            </a:r>
          </a:p>
        </p:txBody>
      </p:sp>
      <p:sp>
        <p:nvSpPr>
          <p:cNvPr id="3" name="text-ur8ml4t65qn">
            <a:extLst xmlns:a="http://schemas.openxmlformats.org/drawingml/2006/main">
              <a:ext uri="{FF2B5EF4-FFF2-40B4-BE49-F238E27FC236}">
                <a16:creationId xmlns:a16="http://schemas.microsoft.com/office/drawing/2014/main" id="{2DDEBB27-B9D0-452C-9421-21DC5FD7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1104900" y="29241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7D7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57B6FB-9E36-4A58-95EA-C36ADCC6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hee08dy8v4o">
            <a:extLst xmlns:a="http://schemas.openxmlformats.org/drawingml/2006/main">
              <a:ext uri="{FF2B5EF4-FFF2-40B4-BE49-F238E27FC236}">
                <a16:creationId xmlns:a16="http://schemas.microsoft.com/office/drawing/2014/main" id="{11FE8D93-A3DB-449F-950C-57789DB3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text-s31m5imehhh">
            <a:extLst xmlns:a="http://schemas.openxmlformats.org/drawingml/2006/main">
              <a:ext uri="{FF2B5EF4-FFF2-40B4-BE49-F238E27FC236}">
                <a16:creationId xmlns:a16="http://schemas.microsoft.com/office/drawing/2014/main" id="{841A500D-6AE5-4D49-992B-D0A4A1DC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Moment</a:t>
            </a:r>
          </a:p>
        </p:txBody>
      </p:sp>
      <p:sp>
        <p:nvSpPr>
          <p:cNvPr id="8" name="text-widf8l1bj9h">
            <a:extLst xmlns:a="http://schemas.openxmlformats.org/drawingml/2006/main">
              <a:ext uri="{FF2B5EF4-FFF2-40B4-BE49-F238E27FC236}">
                <a16:creationId xmlns:a16="http://schemas.microsoft.com/office/drawing/2014/main" id="{BD2D3A69-A611-4C13-BC36-188BA689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Festival, campus break or group celebration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3371850" y="29241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7D7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434628-FF29-4C94-B4C4-67BD4190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noexwmk7be">
            <a:extLst xmlns:a="http://schemas.openxmlformats.org/drawingml/2006/main">
              <a:ext uri="{FF2B5EF4-FFF2-40B4-BE49-F238E27FC236}">
                <a16:creationId xmlns:a16="http://schemas.microsoft.com/office/drawing/2014/main" id="{34F1E619-6886-4AC2-85BD-CF43D125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text-t9uid2wb3bc">
            <a:extLst xmlns:a="http://schemas.openxmlformats.org/drawingml/2006/main">
              <a:ext uri="{FF2B5EF4-FFF2-40B4-BE49-F238E27FC236}">
                <a16:creationId xmlns:a16="http://schemas.microsoft.com/office/drawing/2014/main" id="{9EBCB2D8-6D0E-4412-A09C-31E223C7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Personal cue</a:t>
            </a:r>
          </a:p>
        </p:txBody>
      </p:sp>
      <p:sp>
        <p:nvSpPr>
          <p:cNvPr id="13" name="text-2uvh242hsfc">
            <a:extLst xmlns:a="http://schemas.openxmlformats.org/drawingml/2006/main">
              <a:ext uri="{FF2B5EF4-FFF2-40B4-BE49-F238E27FC236}">
                <a16:creationId xmlns:a16="http://schemas.microsoft.com/office/drawing/2014/main" id="{FBCF0376-116F-42AD-871B-DB0097FA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Name, role or relationship that feels relevant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5638800" y="29241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7D7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5BB15D-2292-49A7-BF52-3AF0F325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jx73s5ui53">
            <a:extLst xmlns:a="http://schemas.openxmlformats.org/drawingml/2006/main">
              <a:ext uri="{FF2B5EF4-FFF2-40B4-BE49-F238E27FC236}">
                <a16:creationId xmlns:a16="http://schemas.microsoft.com/office/drawing/2014/main" id="{57EA9A2D-1D26-43C4-89F8-AEDDCD02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text-zkere0w1i8d">
            <a:extLst xmlns:a="http://schemas.openxmlformats.org/drawingml/2006/main">
              <a:ext uri="{FF2B5EF4-FFF2-40B4-BE49-F238E27FC236}">
                <a16:creationId xmlns:a16="http://schemas.microsoft.com/office/drawing/2014/main" id="{8FC3DFA8-9FCC-4EC7-B898-0C996940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Shared drink</a:t>
            </a:r>
          </a:p>
        </p:txBody>
      </p:sp>
      <p:sp>
        <p:nvSpPr>
          <p:cNvPr id="18" name="text-02s11z2wp3yh">
            <a:extLst xmlns:a="http://schemas.openxmlformats.org/drawingml/2006/main">
              <a:ext uri="{FF2B5EF4-FFF2-40B4-BE49-F238E27FC236}">
                <a16:creationId xmlns:a16="http://schemas.microsoft.com/office/drawing/2014/main" id="{0DF8DCC1-5B69-486A-8DB1-BB00A073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A visible social action, not passive reach</a:t>
            </a:r>
          </a:p>
        </p:txBody>
      </p:sp>
      <p:cxnSp>
        <p:nvCxnSpPr>
          <p:cNvPr id="48" name=""/>
          <p:cNvCxnSpPr/>
          <p:nvPr/>
        </p:nvCxnSpPr>
        <p:spPr>
          <a:xfrm xmlns:a="http://schemas.openxmlformats.org/drawingml/2006/main">
            <a:off x="7905750" y="29241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7D7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D69023-8B14-4BE3-A875-25460BE4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-0aky9lr2sw4">
            <a:extLst xmlns:a="http://schemas.openxmlformats.org/drawingml/2006/main">
              <a:ext uri="{FF2B5EF4-FFF2-40B4-BE49-F238E27FC236}">
                <a16:creationId xmlns:a16="http://schemas.microsoft.com/office/drawing/2014/main" id="{79C13ADC-EA3F-418F-AC0C-6CC320E5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text-78welq56m5">
            <a:extLst xmlns:a="http://schemas.openxmlformats.org/drawingml/2006/main">
              <a:ext uri="{FF2B5EF4-FFF2-40B4-BE49-F238E27FC236}">
                <a16:creationId xmlns:a16="http://schemas.microsoft.com/office/drawing/2014/main" id="{DCA96086-C7DA-4B8D-A984-A7B4CE87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 prompt</a:t>
            </a:r>
          </a:p>
        </p:txBody>
      </p:sp>
      <p:sp>
        <p:nvSpPr>
          <p:cNvPr id="23" name="text-knopsmybpnm">
            <a:extLst xmlns:a="http://schemas.openxmlformats.org/drawingml/2006/main">
              <a:ext uri="{FF2B5EF4-FFF2-40B4-BE49-F238E27FC236}">
                <a16:creationId xmlns:a16="http://schemas.microsoft.com/office/drawing/2014/main" id="{67FE69CC-44DA-4F7E-B006-983623A4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A clear next occasion within 14 to 30 days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CE7840-E96F-4BA4-9539-398D6DCF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-odb97a6s0co">
            <a:extLst xmlns:a="http://schemas.openxmlformats.org/drawingml/2006/main">
              <a:ext uri="{FF2B5EF4-FFF2-40B4-BE49-F238E27FC236}">
                <a16:creationId xmlns:a16="http://schemas.microsoft.com/office/drawing/2014/main" id="{729F2E18-6007-49BA-8227-1D0D320B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text-4a809a1bftf">
            <a:extLst xmlns:a="http://schemas.openxmlformats.org/drawingml/2006/main">
              <a:ext uri="{FF2B5EF4-FFF2-40B4-BE49-F238E27FC236}">
                <a16:creationId xmlns:a16="http://schemas.microsoft.com/office/drawing/2014/main" id="{C676F80A-522A-4945-A3F2-979AE589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Local ritual</a:t>
            </a:r>
          </a:p>
        </p:txBody>
      </p:sp>
      <p:sp>
        <p:nvSpPr>
          <p:cNvPr id="27" name="text-xkftoltty0n">
            <a:extLst xmlns:a="http://schemas.openxmlformats.org/drawingml/2006/main">
              <a:ext uri="{FF2B5EF4-FFF2-40B4-BE49-F238E27FC236}">
                <a16:creationId xmlns:a16="http://schemas.microsoft.com/office/drawing/2014/main" id="{7FB0ED9D-18DB-410F-89DF-B482B65C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Availability and message stay consistent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224E48-F86B-46FE-9AF6-B9E1C7E3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10200"/>
            <a:ext cx="1095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ext-6menv0mdbz">
            <a:extLst xmlns:a="http://schemas.openxmlformats.org/drawingml/2006/main">
              <a:ext uri="{FF2B5EF4-FFF2-40B4-BE49-F238E27FC236}">
                <a16:creationId xmlns:a16="http://schemas.microsoft.com/office/drawing/2014/main" id="{73C4E757-CE4A-4677-A8F7-0F82BDF6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53075"/>
            <a:ext cx="10429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50D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50D17"/>
                </a:solidFill>
                <a:latin typeface="Arial"/>
                <a:ea typeface="Arial"/>
                <a:cs typeface="Arial"/>
              </a:rPr>
              <a:t>Test the bridge. If the second buy does not move, the growth loop has not formed.</a:t>
            </a:r>
          </a:p>
        </p:txBody>
      </p:sp>
    </p:spTree>
    <p:extLst>
      <p:ext uri="{BB962C8B-B14F-4D97-AF65-F5344CB8AC3E}">
        <p14:creationId xmlns:p14="http://schemas.microsoft.com/office/powerpoint/2010/main" val="7154727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qkgwcp0dnz8">
            <a:extLst xmlns:a="http://schemas.openxmlformats.org/drawingml/2006/main">
              <a:ext uri="{FF2B5EF4-FFF2-40B4-BE49-F238E27FC236}">
                <a16:creationId xmlns:a16="http://schemas.microsoft.com/office/drawing/2014/main" id="{24D338DE-63C8-4240-B497-7B169659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3vyy36edu0a">
            <a:extLst xmlns:a="http://schemas.openxmlformats.org/drawingml/2006/main">
              <a:ext uri="{FF2B5EF4-FFF2-40B4-BE49-F238E27FC236}">
                <a16:creationId xmlns:a16="http://schemas.microsoft.com/office/drawing/2014/main" id="{D3ADD4F4-D564-4531-8F2D-EB6F17D3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a pilot that can be measured, not admired</a:t>
            </a:r>
          </a:p>
        </p:txBody>
      </p:sp>
      <p:sp>
        <p:nvSpPr>
          <p:cNvPr id="3" name="text-27x8raci1ms">
            <a:extLst xmlns:a="http://schemas.openxmlformats.org/drawingml/2006/main">
              <a:ext uri="{FF2B5EF4-FFF2-40B4-BE49-F238E27FC236}">
                <a16:creationId xmlns:a16="http://schemas.microsoft.com/office/drawing/2014/main" id="{2FFA84F1-BC3D-4B61-B405-2D223E14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ext-2y1klvdas7h">
            <a:extLst xmlns:a="http://schemas.openxmlformats.org/drawingml/2006/main">
              <a:ext uri="{FF2B5EF4-FFF2-40B4-BE49-F238E27FC236}">
                <a16:creationId xmlns:a16="http://schemas.microsoft.com/office/drawing/2014/main" id="{83B29B75-5058-4A21-8F04-4D95965B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CELL</a:t>
            </a:r>
          </a:p>
        </p:txBody>
      </p:sp>
      <p:sp>
        <p:nvSpPr>
          <p:cNvPr id="5" name="text-fpxqqkf7wr8">
            <a:extLst xmlns:a="http://schemas.openxmlformats.org/drawingml/2006/main">
              <a:ext uri="{FF2B5EF4-FFF2-40B4-BE49-F238E27FC236}">
                <a16:creationId xmlns:a16="http://schemas.microsoft.com/office/drawing/2014/main" id="{15D91390-0384-44AE-A03A-B8781628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335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TREATMENT</a:t>
            </a:r>
          </a:p>
        </p:txBody>
      </p:sp>
      <p:sp>
        <p:nvSpPr>
          <p:cNvPr id="6" name="text-u0lhvivbe4f">
            <a:extLst xmlns:a="http://schemas.openxmlformats.org/drawingml/2006/main">
              <a:ext uri="{FF2B5EF4-FFF2-40B4-BE49-F238E27FC236}">
                <a16:creationId xmlns:a16="http://schemas.microsoft.com/office/drawing/2014/main" id="{DE67C67C-D584-495B-8EC8-53203EB1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3355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WHAT CHANGES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514350" y="20383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cxnSp>
      <p:sp>
        <p:nvSpPr>
          <p:cNvPr id="8" name="text-7fd0bk02a5">
            <a:extLst xmlns:a="http://schemas.openxmlformats.org/drawingml/2006/main">
              <a:ext uri="{FF2B5EF4-FFF2-40B4-BE49-F238E27FC236}">
                <a16:creationId xmlns:a16="http://schemas.microsoft.com/office/drawing/2014/main" id="{25F22BD3-80D8-4EEB-967E-9E090E75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-a4iace6f8i6">
            <a:extLst xmlns:a="http://schemas.openxmlformats.org/drawingml/2006/main">
              <a:ext uri="{FF2B5EF4-FFF2-40B4-BE49-F238E27FC236}">
                <a16:creationId xmlns:a16="http://schemas.microsoft.com/office/drawing/2014/main" id="{31436091-B1DC-4707-8DA7-C3BA51C8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669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Business as usual</a:t>
            </a:r>
          </a:p>
        </p:txBody>
      </p:sp>
      <p:sp>
        <p:nvSpPr>
          <p:cNvPr id="10" name="text-d64gnzvloub">
            <a:extLst xmlns:a="http://schemas.openxmlformats.org/drawingml/2006/main">
              <a:ext uri="{FF2B5EF4-FFF2-40B4-BE49-F238E27FC236}">
                <a16:creationId xmlns:a16="http://schemas.microsoft.com/office/drawing/2014/main" id="{DFB5AADF-3B7A-4545-B1A1-E2B83707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Current assortment, display and communication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514350" y="30670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2" name="text-t3pqn9dfs7b">
            <a:extLst xmlns:a="http://schemas.openxmlformats.org/drawingml/2006/main">
              <a:ext uri="{FF2B5EF4-FFF2-40B4-BE49-F238E27FC236}">
                <a16:creationId xmlns:a16="http://schemas.microsoft.com/office/drawing/2014/main" id="{F447F6DD-F3F2-4396-9EC9-A7E7B66E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3" name="text-ksjn65gl71l">
            <a:extLst xmlns:a="http://schemas.openxmlformats.org/drawingml/2006/main">
              <a:ext uri="{FF2B5EF4-FFF2-40B4-BE49-F238E27FC236}">
                <a16:creationId xmlns:a16="http://schemas.microsoft.com/office/drawing/2014/main" id="{9E5360D2-C9B8-4B7D-A052-6CF0C581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Personalized occasion cue</a:t>
            </a:r>
          </a:p>
        </p:txBody>
      </p:sp>
      <p:sp>
        <p:nvSpPr>
          <p:cNvPr id="14" name="text-48i9dk5t3vd">
            <a:extLst xmlns:a="http://schemas.openxmlformats.org/drawingml/2006/main">
              <a:ext uri="{FF2B5EF4-FFF2-40B4-BE49-F238E27FC236}">
                <a16:creationId xmlns:a16="http://schemas.microsoft.com/office/drawing/2014/main" id="{3BB23C1C-43EC-4D8B-911C-F9A1768F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337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Locally reviewed name, role or relationship cue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514350" y="41338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6" name="text-cj7ayd3h6i">
            <a:extLst xmlns:a="http://schemas.openxmlformats.org/drawingml/2006/main">
              <a:ext uri="{FF2B5EF4-FFF2-40B4-BE49-F238E27FC236}">
                <a16:creationId xmlns:a16="http://schemas.microsoft.com/office/drawing/2014/main" id="{150B6AF0-5D90-47BF-876A-94AD05DA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005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7" name="text-xj22kkvh4d">
            <a:extLst xmlns:a="http://schemas.openxmlformats.org/drawingml/2006/main">
              <a:ext uri="{FF2B5EF4-FFF2-40B4-BE49-F238E27FC236}">
                <a16:creationId xmlns:a16="http://schemas.microsoft.com/office/drawing/2014/main" id="{C1BCCC5B-51B7-4C72-9CAB-C9C153A5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005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Cue plus repeat loop</a:t>
            </a:r>
          </a:p>
        </p:txBody>
      </p:sp>
      <p:sp>
        <p:nvSpPr>
          <p:cNvPr id="18" name="text-flctbipyixc">
            <a:extLst xmlns:a="http://schemas.openxmlformats.org/drawingml/2006/main">
              <a:ext uri="{FF2B5EF4-FFF2-40B4-BE49-F238E27FC236}">
                <a16:creationId xmlns:a16="http://schemas.microsoft.com/office/drawing/2014/main" id="{CDC6637A-CE64-460C-8B38-D56DE87C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005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Group-share prompt and an opt-in return mechanism</a:t>
            </a:r>
          </a:p>
        </p:txBody>
      </p:sp>
      <p:cxnSp>
        <p:nvCxnSpPr>
          <p:cNvPr id="39" name=""/>
          <p:cNvCxnSpPr/>
          <p:nvPr/>
        </p:nvCxnSpPr>
        <p:spPr>
          <a:xfrm xmlns:a="http://schemas.openxmlformats.org/drawingml/2006/main">
            <a:off x="514350" y="52006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20" name="text-1tttc08m4om">
            <a:extLst xmlns:a="http://schemas.openxmlformats.org/drawingml/2006/main">
              <a:ext uri="{FF2B5EF4-FFF2-40B4-BE49-F238E27FC236}">
                <a16:creationId xmlns:a16="http://schemas.microsoft.com/office/drawing/2014/main" id="{DF4B3825-0BA7-4C99-B8CF-FA4E0AEF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Randomize at outlet cluster level, balance baseline transactions and availability, and pre-register the readout before creative goes live.</a:t>
            </a:r>
          </a:p>
        </p:txBody>
      </p:sp>
    </p:spTree>
    <p:extLst>
      <p:ext uri="{BB962C8B-B14F-4D97-AF65-F5344CB8AC3E}">
        <p14:creationId xmlns:p14="http://schemas.microsoft.com/office/powerpoint/2010/main" val="18011036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1xmmfih4bkb">
            <a:extLst xmlns:a="http://schemas.openxmlformats.org/drawingml/2006/main">
              <a:ext uri="{FF2B5EF4-FFF2-40B4-BE49-F238E27FC236}">
                <a16:creationId xmlns:a16="http://schemas.microsoft.com/office/drawing/2014/main" id="{042F611D-47BE-44DE-B65F-638F2E7B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ise5gmn6gj">
            <a:extLst xmlns:a="http://schemas.openxmlformats.org/drawingml/2006/main">
              <a:ext uri="{FF2B5EF4-FFF2-40B4-BE49-F238E27FC236}">
                <a16:creationId xmlns:a16="http://schemas.microsoft.com/office/drawing/2014/main" id="{D7AD2B58-2F65-4C5A-B53A-BCD5842E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Judge the pilot on transactions and repeat</a:t>
            </a:r>
          </a:p>
        </p:txBody>
      </p:sp>
      <p:sp>
        <p:nvSpPr>
          <p:cNvPr id="3" name="text-qoi7ua0llom">
            <a:extLst xmlns:a="http://schemas.openxmlformats.org/drawingml/2006/main">
              <a:ext uri="{FF2B5EF4-FFF2-40B4-BE49-F238E27FC236}">
                <a16:creationId xmlns:a16="http://schemas.microsoft.com/office/drawing/2014/main" id="{08371C3C-EE3F-4E23-A6BE-E2257F4C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E8B376-4A2E-4A99-8947-60371F96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b6w07heyx3">
            <a:extLst xmlns:a="http://schemas.openxmlformats.org/drawingml/2006/main">
              <a:ext uri="{FF2B5EF4-FFF2-40B4-BE49-F238E27FC236}">
                <a16:creationId xmlns:a16="http://schemas.microsoft.com/office/drawing/2014/main" id="{0C34F00B-DBEE-4A9D-90A5-5953A542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Primary metric</a:t>
            </a:r>
          </a:p>
        </p:txBody>
      </p:sp>
      <p:sp>
        <p:nvSpPr>
          <p:cNvPr id="6" name="text-11o9nsoy37m">
            <a:extLst xmlns:a="http://schemas.openxmlformats.org/drawingml/2006/main">
              <a:ext uri="{FF2B5EF4-FFF2-40B4-BE49-F238E27FC236}">
                <a16:creationId xmlns:a16="http://schemas.microsoft.com/office/drawing/2014/main" id="{66A6ED81-806B-438F-A95A-C0AEAB6E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3905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4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Incremental transactions per eligible outlet</a:t>
            </a:r>
          </a:p>
        </p:txBody>
      </p:sp>
      <p:sp>
        <p:nvSpPr>
          <p:cNvPr id="7" name="text-16otnfmggxf">
            <a:extLst xmlns:a="http://schemas.openxmlformats.org/drawingml/2006/main">
              <a:ext uri="{FF2B5EF4-FFF2-40B4-BE49-F238E27FC236}">
                <a16:creationId xmlns:a16="http://schemas.microsoft.com/office/drawing/2014/main" id="{AB829270-7B50-4B20-B934-8E40EC79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3905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Compared with the balanced control group over the agreed test window</a:t>
            </a:r>
          </a:p>
        </p:txBody>
      </p:sp>
      <p:sp>
        <p:nvSpPr>
          <p:cNvPr id="8" name="text-yp2e6vjwvd9">
            <a:extLst xmlns:a="http://schemas.openxmlformats.org/drawingml/2006/main">
              <a:ext uri="{FF2B5EF4-FFF2-40B4-BE49-F238E27FC236}">
                <a16:creationId xmlns:a16="http://schemas.microsoft.com/office/drawing/2014/main" id="{3DA74DBA-F1FA-47C3-AECF-D1CA04ED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95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30-day repeat</a:t>
            </a:r>
          </a:p>
        </p:txBody>
      </p:sp>
      <p:sp>
        <p:nvSpPr>
          <p:cNvPr id="9" name="text-ls3jtfhz6y">
            <a:extLst xmlns:a="http://schemas.openxmlformats.org/drawingml/2006/main">
              <a:ext uri="{FF2B5EF4-FFF2-40B4-BE49-F238E27FC236}">
                <a16:creationId xmlns:a16="http://schemas.microsoft.com/office/drawing/2014/main" id="{618C8775-1960-4344-ABE2-B1B8FB8E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954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Did the second occasion happen?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6019800" y="227647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1" name="text-qphezpm9sta">
            <a:extLst xmlns:a="http://schemas.openxmlformats.org/drawingml/2006/main">
              <a:ext uri="{FF2B5EF4-FFF2-40B4-BE49-F238E27FC236}">
                <a16:creationId xmlns:a16="http://schemas.microsoft.com/office/drawing/2014/main" id="{85E0D1BE-7C8D-4FAF-98D2-3986BCED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146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Gross margin after activation</a:t>
            </a:r>
          </a:p>
        </p:txBody>
      </p:sp>
      <p:sp>
        <p:nvSpPr>
          <p:cNvPr id="12" name="text-fcd4nxx3y1v">
            <a:extLst xmlns:a="http://schemas.openxmlformats.org/drawingml/2006/main">
              <a:ext uri="{FF2B5EF4-FFF2-40B4-BE49-F238E27FC236}">
                <a16:creationId xmlns:a16="http://schemas.microsoft.com/office/drawing/2014/main" id="{BAFF0C77-55E4-4865-9429-06CC52B7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146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Did the lift pay for the treatment?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6019800" y="309562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4" name="text-624kn0hjp77">
            <a:extLst xmlns:a="http://schemas.openxmlformats.org/drawingml/2006/main">
              <a:ext uri="{FF2B5EF4-FFF2-40B4-BE49-F238E27FC236}">
                <a16:creationId xmlns:a16="http://schemas.microsoft.com/office/drawing/2014/main" id="{F5874BF8-E5B6-48DF-99EF-31E82527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33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Stock availability</a:t>
            </a:r>
          </a:p>
        </p:txBody>
      </p:sp>
      <p:sp>
        <p:nvSpPr>
          <p:cNvPr id="15" name="text-fqpq0k3dprm">
            <a:extLst xmlns:a="http://schemas.openxmlformats.org/drawingml/2006/main">
              <a:ext uri="{FF2B5EF4-FFF2-40B4-BE49-F238E27FC236}">
                <a16:creationId xmlns:a16="http://schemas.microsoft.com/office/drawing/2014/main" id="{D4DA95BA-15D3-401B-BE9E-FE954E42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Could the outlet execute the idea?</a:t>
            </a:r>
          </a:p>
        </p:txBody>
      </p:sp>
      <p:cxnSp>
        <p:nvCxnSpPr>
          <p:cNvPr id="39" name=""/>
          <p:cNvCxnSpPr/>
          <p:nvPr/>
        </p:nvCxnSpPr>
        <p:spPr>
          <a:xfrm xmlns:a="http://schemas.openxmlformats.org/drawingml/2006/main">
            <a:off x="6019800" y="391477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7" name="text-euas1astodb">
            <a:extLst xmlns:a="http://schemas.openxmlformats.org/drawingml/2006/main">
              <a:ext uri="{FF2B5EF4-FFF2-40B4-BE49-F238E27FC236}">
                <a16:creationId xmlns:a16="http://schemas.microsoft.com/office/drawing/2014/main" id="{4D73AE08-6858-4CAE-AA67-605CCF76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52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Opt-in share behaviour</a:t>
            </a:r>
          </a:p>
        </p:txBody>
      </p:sp>
      <p:sp>
        <p:nvSpPr>
          <p:cNvPr id="18" name="text-yoahnfxyezk">
            <a:extLst xmlns:a="http://schemas.openxmlformats.org/drawingml/2006/main">
              <a:ext uri="{FF2B5EF4-FFF2-40B4-BE49-F238E27FC236}">
                <a16:creationId xmlns:a16="http://schemas.microsoft.com/office/drawing/2014/main" id="{5E03E319-279F-4342-B229-DCB2A5BE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529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25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Did people use the social mechanism?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6019800" y="473392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20" name="text-wn32y5vtd0l">
            <a:extLst xmlns:a="http://schemas.openxmlformats.org/drawingml/2006/main">
              <a:ext uri="{FF2B5EF4-FFF2-40B4-BE49-F238E27FC236}">
                <a16:creationId xmlns:a16="http://schemas.microsoft.com/office/drawing/2014/main" id="{254C1439-7DA8-435F-A66F-F1C889A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9720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Retailer compliance</a:t>
            </a:r>
          </a:p>
        </p:txBody>
      </p:sp>
      <p:sp>
        <p:nvSpPr>
          <p:cNvPr id="21" name="text-nvprm3z3nq">
            <a:extLst xmlns:a="http://schemas.openxmlformats.org/drawingml/2006/main">
              <a:ext uri="{FF2B5EF4-FFF2-40B4-BE49-F238E27FC236}">
                <a16:creationId xmlns:a16="http://schemas.microsoft.com/office/drawing/2014/main" id="{621DA943-67AF-423B-BCA6-65444BEF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720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Was the test actually delivered?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6019800" y="555307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23" name="text-xk8q9c5ho9o">
            <a:extLst xmlns:a="http://schemas.openxmlformats.org/drawingml/2006/main">
              <a:ext uri="{FF2B5EF4-FFF2-40B4-BE49-F238E27FC236}">
                <a16:creationId xmlns:a16="http://schemas.microsoft.com/office/drawing/2014/main" id="{D39CEB8D-07C8-41F5-A9EF-09BF7852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scan-rate spike without transaction lift is not a win.</a:t>
            </a:r>
          </a:p>
        </p:txBody>
      </p:sp>
    </p:spTree>
    <p:extLst>
      <p:ext uri="{BB962C8B-B14F-4D97-AF65-F5344CB8AC3E}">
        <p14:creationId xmlns:p14="http://schemas.microsoft.com/office/powerpoint/2010/main" val="5637099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w1rfduzq1k">
            <a:extLst xmlns:a="http://schemas.openxmlformats.org/drawingml/2006/main">
              <a:ext uri="{FF2B5EF4-FFF2-40B4-BE49-F238E27FC236}">
                <a16:creationId xmlns:a16="http://schemas.microsoft.com/office/drawing/2014/main" id="{480103B0-5503-46C8-8C4A-3C6A932E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miqsq527hb">
            <a:extLst xmlns:a="http://schemas.openxmlformats.org/drawingml/2006/main">
              <a:ext uri="{FF2B5EF4-FFF2-40B4-BE49-F238E27FC236}">
                <a16:creationId xmlns:a16="http://schemas.microsoft.com/office/drawing/2014/main" id="{10844CAE-E9CA-4FE4-AC08-4A6219BD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5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Availability and entry-pack economics decide whether the idea scales</a:t>
            </a:r>
          </a:p>
        </p:txBody>
      </p:sp>
      <p:sp>
        <p:nvSpPr>
          <p:cNvPr id="3" name="text-zursb05cev">
            <a:extLst xmlns:a="http://schemas.openxmlformats.org/drawingml/2006/main">
              <a:ext uri="{FF2B5EF4-FFF2-40B4-BE49-F238E27FC236}">
                <a16:creationId xmlns:a16="http://schemas.microsoft.com/office/drawing/2014/main" id="{F41B10BA-24CF-49DC-AD64-BC044DC6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text-f9teq02tbf">
            <a:extLst xmlns:a="http://schemas.openxmlformats.org/drawingml/2006/main">
              <a:ext uri="{FF2B5EF4-FFF2-40B4-BE49-F238E27FC236}">
                <a16:creationId xmlns:a16="http://schemas.microsoft.com/office/drawing/2014/main" id="{A6AB1B6D-3A0E-4402-B1F4-F699AC03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$47.9B</a:t>
            </a:r>
          </a:p>
        </p:txBody>
      </p:sp>
      <p:sp>
        <p:nvSpPr>
          <p:cNvPr id="5" name="text-lm26q0oglu">
            <a:extLst xmlns:a="http://schemas.openxmlformats.org/drawingml/2006/main">
              <a:ext uri="{FF2B5EF4-FFF2-40B4-BE49-F238E27FC236}">
                <a16:creationId xmlns:a16="http://schemas.microsoft.com/office/drawing/2014/main" id="{351AB475-9551-4A08-8715-2CEE1830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2025 net operating revenue</a:t>
            </a:r>
          </a:p>
        </p:txBody>
      </p:sp>
      <p:sp>
        <p:nvSpPr>
          <p:cNvPr id="6" name="text-vx18lews839">
            <a:extLst xmlns:a="http://schemas.openxmlformats.org/drawingml/2006/main">
              <a:ext uri="{FF2B5EF4-FFF2-40B4-BE49-F238E27FC236}">
                <a16:creationId xmlns:a16="http://schemas.microsoft.com/office/drawing/2014/main" id="{6167D223-0A8C-49E5-9986-1B70F576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90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$5.4B</a:t>
            </a:r>
          </a:p>
        </p:txBody>
      </p:sp>
      <p:sp>
        <p:nvSpPr>
          <p:cNvPr id="7" name="text-gb2h53ycdv7">
            <a:extLst xmlns:a="http://schemas.openxmlformats.org/drawingml/2006/main">
              <a:ext uri="{FF2B5EF4-FFF2-40B4-BE49-F238E27FC236}">
                <a16:creationId xmlns:a16="http://schemas.microsoft.com/office/drawing/2014/main" id="{01A68C77-1AFC-46E9-AEB1-2938723A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2025 advertising expense</a:t>
            </a:r>
          </a:p>
        </p:txBody>
      </p:sp>
      <p:sp>
        <p:nvSpPr>
          <p:cNvPr id="8" name="text-nhc4hvhqk4e">
            <a:extLst xmlns:a="http://schemas.openxmlformats.org/drawingml/2006/main">
              <a:ext uri="{FF2B5EF4-FFF2-40B4-BE49-F238E27FC236}">
                <a16:creationId xmlns:a16="http://schemas.microsoft.com/office/drawing/2014/main" id="{0557BDEB-F2DC-4EA8-9874-41A4BF46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130M+</a:t>
            </a:r>
          </a:p>
        </p:txBody>
      </p:sp>
      <p:sp>
        <p:nvSpPr>
          <p:cNvPr id="9" name="text-n6yzla36ytq">
            <a:extLst xmlns:a="http://schemas.openxmlformats.org/drawingml/2006/main">
              <a:ext uri="{FF2B5EF4-FFF2-40B4-BE49-F238E27FC236}">
                <a16:creationId xmlns:a16="http://schemas.microsoft.com/office/drawing/2014/main" id="{1C00D584-E31F-468F-94C9-8486A849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38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juice transactions added year to date through lower-cost single-serve offers in markets including India and Latin America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14350" y="35242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cxnSp>
      <p:sp>
        <p:nvSpPr>
          <p:cNvPr id="11" name="text-5l82d469f27">
            <a:extLst xmlns:a="http://schemas.openxmlformats.org/drawingml/2006/main">
              <a:ext uri="{FF2B5EF4-FFF2-40B4-BE49-F238E27FC236}">
                <a16:creationId xmlns:a16="http://schemas.microsoft.com/office/drawing/2014/main" id="{B8F109E6-7F91-424B-85A6-093EFDB3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243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My commercial rule</a:t>
            </a:r>
          </a:p>
        </p:txBody>
      </p:sp>
      <p:sp>
        <p:nvSpPr>
          <p:cNvPr id="12" name="text-gwkicymoy3r">
            <a:extLst xmlns:a="http://schemas.openxmlformats.org/drawingml/2006/main">
              <a:ext uri="{FF2B5EF4-FFF2-40B4-BE49-F238E27FC236}">
                <a16:creationId xmlns:a16="http://schemas.microsoft.com/office/drawing/2014/main" id="{052CD5EC-A733-44F8-8032-74D5B34F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62450"/>
            <a:ext cx="10572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Choose the package, price point and message together, using outlet economics. Do not bolt a creative idea onto a pack that is unavailable or unaffordable in the target moment.</a:t>
            </a:r>
          </a:p>
        </p:txBody>
      </p:sp>
      <p:sp>
        <p:nvSpPr>
          <p:cNvPr id="13" name="text-gwzi04clrk7">
            <a:extLst xmlns:a="http://schemas.openxmlformats.org/drawingml/2006/main">
              <a:ext uri="{FF2B5EF4-FFF2-40B4-BE49-F238E27FC236}">
                <a16:creationId xmlns:a16="http://schemas.microsoft.com/office/drawing/2014/main" id="{FC0B5019-9525-48C8-9074-01B1C36E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The 130 million figure relates to juice drinks and multiple markets. I use it as a revenue-growth-management signal, not as a forecast for this pilot.</a:t>
            </a:r>
          </a:p>
        </p:txBody>
      </p:sp>
    </p:spTree>
    <p:extLst>
      <p:ext uri="{BB962C8B-B14F-4D97-AF65-F5344CB8AC3E}">
        <p14:creationId xmlns:p14="http://schemas.microsoft.com/office/powerpoint/2010/main" val="9682888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nbyif5uvq5q">
            <a:extLst xmlns:a="http://schemas.openxmlformats.org/drawingml/2006/main">
              <a:ext uri="{FF2B5EF4-FFF2-40B4-BE49-F238E27FC236}">
                <a16:creationId xmlns:a16="http://schemas.microsoft.com/office/drawing/2014/main" id="{9705A8DF-BBD9-4AAC-81AC-6DC810C3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g9ibho4q4ob">
            <a:extLst xmlns:a="http://schemas.openxmlformats.org/drawingml/2006/main">
              <a:ext uri="{FF2B5EF4-FFF2-40B4-BE49-F238E27FC236}">
                <a16:creationId xmlns:a16="http://schemas.microsoft.com/office/drawing/2014/main" id="{B791BB88-F586-4A54-8BF2-5D7A7605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Ninety days is enough to accept, refine or stop</a:t>
            </a:r>
          </a:p>
        </p:txBody>
      </p:sp>
      <p:sp>
        <p:nvSpPr>
          <p:cNvPr id="3" name="text-uzoou5jg8w">
            <a:extLst xmlns:a="http://schemas.openxmlformats.org/drawingml/2006/main">
              <a:ext uri="{FF2B5EF4-FFF2-40B4-BE49-F238E27FC236}">
                <a16:creationId xmlns:a16="http://schemas.microsoft.com/office/drawing/2014/main" id="{673F84D7-0F5F-4B62-8EBE-74C6C73B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857250" y="3067050"/>
            <a:ext cx="9906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08BA78-1CFF-441E-AE08-4ABFF542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146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qstkpxvgy2g">
            <a:extLst xmlns:a="http://schemas.openxmlformats.org/drawingml/2006/main">
              <a:ext uri="{FF2B5EF4-FFF2-40B4-BE49-F238E27FC236}">
                <a16:creationId xmlns:a16="http://schemas.microsoft.com/office/drawing/2014/main" id="{40007FA6-0005-46CC-A22B-48EE6AEA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DAYS 1 TO 30</a:t>
            </a:r>
          </a:p>
        </p:txBody>
      </p:sp>
      <p:sp>
        <p:nvSpPr>
          <p:cNvPr id="7" name="text-yrgc035had">
            <a:extLst xmlns:a="http://schemas.openxmlformats.org/drawingml/2006/main">
              <a:ext uri="{FF2B5EF4-FFF2-40B4-BE49-F238E27FC236}">
                <a16:creationId xmlns:a16="http://schemas.microsoft.com/office/drawing/2014/main" id="{BB84DF75-E6E7-4E3B-88FF-4B1DD537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Design the truth</a:t>
            </a:r>
          </a:p>
        </p:txBody>
      </p:sp>
      <p:sp>
        <p:nvSpPr>
          <p:cNvPr id="8" name="text-j96gshl40ce">
            <a:extLst xmlns:a="http://schemas.openxmlformats.org/drawingml/2006/main">
              <a:ext uri="{FF2B5EF4-FFF2-40B4-BE49-F238E27FC236}">
                <a16:creationId xmlns:a16="http://schemas.microsoft.com/office/drawing/2014/main" id="{BC06C210-C311-46E4-83D9-838F82A6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Choose occasion and outlets. Validate names, cultural fit, packs, economics and data collection.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5F6B9D-8918-4574-A80D-C37F58D1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146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-gytv9tptzya">
            <a:extLst xmlns:a="http://schemas.openxmlformats.org/drawingml/2006/main">
              <a:ext uri="{FF2B5EF4-FFF2-40B4-BE49-F238E27FC236}">
                <a16:creationId xmlns:a16="http://schemas.microsoft.com/office/drawing/2014/main" id="{2CE6B687-47B3-4B2F-9268-4D6D197D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DAYS 31 TO 60</a:t>
            </a:r>
          </a:p>
        </p:txBody>
      </p:sp>
      <p:sp>
        <p:nvSpPr>
          <p:cNvPr id="11" name="text-okkpvsv4uym">
            <a:extLst xmlns:a="http://schemas.openxmlformats.org/drawingml/2006/main">
              <a:ext uri="{FF2B5EF4-FFF2-40B4-BE49-F238E27FC236}">
                <a16:creationId xmlns:a16="http://schemas.microsoft.com/office/drawing/2014/main" id="{59038F40-D0DD-4099-9776-A34299BE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the field test</a:t>
            </a:r>
          </a:p>
        </p:txBody>
      </p:sp>
      <p:sp>
        <p:nvSpPr>
          <p:cNvPr id="12" name="text-0jhwgswe4w15">
            <a:extLst xmlns:a="http://schemas.openxmlformats.org/drawingml/2006/main">
              <a:ext uri="{FF2B5EF4-FFF2-40B4-BE49-F238E27FC236}">
                <a16:creationId xmlns:a16="http://schemas.microsoft.com/office/drawing/2014/main" id="{1ADFC482-1099-4589-B914-7BA01190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Launch balanced cells. Monitor availability, compliance and privacy issues before reading uplift.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A925A-550A-4BD5-BEE8-B02B91B8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146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waaz8blc7hq">
            <a:extLst xmlns:a="http://schemas.openxmlformats.org/drawingml/2006/main">
              <a:ext uri="{FF2B5EF4-FFF2-40B4-BE49-F238E27FC236}">
                <a16:creationId xmlns:a16="http://schemas.microsoft.com/office/drawing/2014/main" id="{C869DF40-25D9-4E9D-8496-5F59BEBD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5262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DAYS 61 TO 90</a:t>
            </a:r>
          </a:p>
        </p:txBody>
      </p:sp>
      <p:sp>
        <p:nvSpPr>
          <p:cNvPr id="15" name="text-twvqcj0i5ag">
            <a:extLst xmlns:a="http://schemas.openxmlformats.org/drawingml/2006/main">
              <a:ext uri="{FF2B5EF4-FFF2-40B4-BE49-F238E27FC236}">
                <a16:creationId xmlns:a16="http://schemas.microsoft.com/office/drawing/2014/main" id="{C9A44217-DE1D-4EFF-A5C5-615D93C5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 the behaviour</a:t>
            </a:r>
          </a:p>
        </p:txBody>
      </p:sp>
      <p:sp>
        <p:nvSpPr>
          <p:cNvPr id="16" name="text-o75q4cgmh3i">
            <a:extLst xmlns:a="http://schemas.openxmlformats.org/drawingml/2006/main">
              <a:ext uri="{FF2B5EF4-FFF2-40B4-BE49-F238E27FC236}">
                <a16:creationId xmlns:a16="http://schemas.microsoft.com/office/drawing/2014/main" id="{21B5F3A7-6462-4388-B8A4-AD560E00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43300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Compare transactions, repeat and margin. Scale the mechanism only if the second occasion moves.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8A6FED-72EA-4134-8D40-00AADABF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jumy7i91j">
            <a:extLst xmlns:a="http://schemas.openxmlformats.org/drawingml/2006/main">
              <a:ext uri="{FF2B5EF4-FFF2-40B4-BE49-F238E27FC236}">
                <a16:creationId xmlns:a16="http://schemas.microsoft.com/office/drawing/2014/main" id="{3A2B44DC-D6E5-40C9-AA5B-38DA9711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Decision: scale, redesign or stop. A polished activation is not the output. A better growth decision is.</a:t>
            </a:r>
          </a:p>
        </p:txBody>
      </p:sp>
    </p:spTree>
    <p:extLst>
      <p:ext uri="{BB962C8B-B14F-4D97-AF65-F5344CB8AC3E}">
        <p14:creationId xmlns:p14="http://schemas.microsoft.com/office/powerpoint/2010/main" val="21116024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4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dcj1z8vf8h">
            <a:extLst xmlns:a="http://schemas.openxmlformats.org/drawingml/2006/main">
              <a:ext uri="{FF2B5EF4-FFF2-40B4-BE49-F238E27FC236}">
                <a16:creationId xmlns:a16="http://schemas.microsoft.com/office/drawing/2014/main" id="{6310D907-65BC-44FD-9172-8F829F3A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2" name="text-qpr0i83amca">
            <a:extLst xmlns:a="http://schemas.openxmlformats.org/drawingml/2006/main">
              <a:ext uri="{FF2B5EF4-FFF2-40B4-BE49-F238E27FC236}">
                <a16:creationId xmlns:a16="http://schemas.microsoft.com/office/drawing/2014/main" id="{E32A8604-328B-44ED-8B4F-F9D6B557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857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 an occasion-to-habit engine</a:t>
            </a:r>
          </a:p>
        </p:txBody>
      </p:sp>
      <p:sp>
        <p:nvSpPr>
          <p:cNvPr id="3" name="text-ox27ive7n">
            <a:extLst xmlns:a="http://schemas.openxmlformats.org/drawingml/2006/main">
              <a:ext uri="{FF2B5EF4-FFF2-40B4-BE49-F238E27FC236}">
                <a16:creationId xmlns:a16="http://schemas.microsoft.com/office/drawing/2014/main" id="{E5A7BE1F-7510-44BC-BDC7-4FC8BF21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8286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 Start with a real local 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 Use personalization to make the pack socially relevant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 Scale only when transactions, repeat and margin move together</a:t>
            </a:r>
          </a:p>
        </p:txBody>
      </p:sp>
      <p:cxnSp>
        <p:nvCxnSpPr>
          <p:cNvPr id="9" name=""/>
          <p:cNvCxnSpPr/>
          <p:nvPr/>
        </p:nvCxnSpPr>
        <p:spPr>
          <a:xfrm xmlns:a="http://schemas.openxmlformats.org/drawingml/2006/main">
            <a:off x="571500" y="5619750"/>
            <a:ext cx="10668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FFFFFF"/>
            </a:solidFill>
            <a:prstDash val="solid"/>
          </a:ln>
        </p:spPr>
      </p:cxnSp>
      <p:sp>
        <p:nvSpPr>
          <p:cNvPr id="5" name="text-ggn2dhypeas">
            <a:extLst xmlns:a="http://schemas.openxmlformats.org/drawingml/2006/main">
              <a:ext uri="{FF2B5EF4-FFF2-40B4-BE49-F238E27FC236}">
                <a16:creationId xmlns:a16="http://schemas.microsoft.com/office/drawing/2014/main" id="{D326EC26-6E92-4DB3-B538-7433F20C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Independent public-source case study by Keshav Kapoor. I did not work for Coca-Cola.</a:t>
            </a:r>
          </a:p>
        </p:txBody>
      </p:sp>
    </p:spTree>
    <p:extLst>
      <p:ext uri="{BB962C8B-B14F-4D97-AF65-F5344CB8AC3E}">
        <p14:creationId xmlns:p14="http://schemas.microsoft.com/office/powerpoint/2010/main" val="12263639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2026-08-30T06:42:24.1950000Z</dcterms:created>
  <dcterms:modified xsi:type="dcterms:W3CDTF">2026-08-30T06:42:24.1950000Z</dcterms:modified>
</coreProperties>
</file>