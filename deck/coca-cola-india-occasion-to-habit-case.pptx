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b40cbae07f4255" /><Relationship Type="http://schemas.openxmlformats.org/officeDocument/2006/relationships/extended-properties" Target="/docProps/app.xml" Id="Reda5e83084024d07" /><Relationship Type="http://schemas.openxmlformats.org/officeDocument/2006/relationships/officeDocument" Target="/ppt/presentation.xml" Id="R9812a2e9371a4c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f849e072504976"/>
  </p:sldMasterIdLst>
  <p:notesMasterIdLst>
    <p:notesMasterId xmlns:r="http://schemas.openxmlformats.org/officeDocument/2006/relationships" r:id="Rba1e6ed2787f4000"/>
  </p:notesMasterIdLst>
  <p:sldIdLst>
    <p:sldId xmlns:r="http://schemas.openxmlformats.org/officeDocument/2006/relationships" id="256" r:id="R8227a87808f04c4e"/>
    <p:sldId xmlns:r="http://schemas.openxmlformats.org/officeDocument/2006/relationships" id="257" r:id="Rcbbe3e1c0ada45f5"/>
    <p:sldId xmlns:r="http://schemas.openxmlformats.org/officeDocument/2006/relationships" id="258" r:id="Rdc899b19d514429e"/>
    <p:sldId xmlns:r="http://schemas.openxmlformats.org/officeDocument/2006/relationships" id="259" r:id="R9a1f0ed58e904d32"/>
    <p:sldId xmlns:r="http://schemas.openxmlformats.org/officeDocument/2006/relationships" id="260" r:id="Rf35e1c666f4c4794"/>
    <p:sldId xmlns:r="http://schemas.openxmlformats.org/officeDocument/2006/relationships" id="261" r:id="Rd8c949f97b0f4da6"/>
    <p:sldId xmlns:r="http://schemas.openxmlformats.org/officeDocument/2006/relationships" id="262" r:id="Rbc601a0b0a5849e5"/>
    <p:sldId xmlns:r="http://schemas.openxmlformats.org/officeDocument/2006/relationships" id="263" r:id="R7e1dd57d131040b9"/>
    <p:sldId xmlns:r="http://schemas.openxmlformats.org/officeDocument/2006/relationships" id="264" r:id="Ra94a24bd2c3c4db3"/>
    <p:sldId xmlns:r="http://schemas.openxmlformats.org/officeDocument/2006/relationships" id="265" r:id="R2c4efa2ae7f143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3ad0692fd447a0" /><Relationship Type="http://schemas.openxmlformats.org/officeDocument/2006/relationships/slideMaster" Target="/ppt/slideMasters/slideMaster1.xml" Id="Rd9f849e072504976" /><Relationship Type="http://schemas.openxmlformats.org/officeDocument/2006/relationships/notesMaster" Target="/ppt/notesMasters/notesMaster1.xml" Id="Rba1e6ed2787f4000" /><Relationship Type="http://schemas.openxmlformats.org/officeDocument/2006/relationships/presProps" Target="/ppt/presProps.xml" Id="R5b16772c7aaf403f" /><Relationship Type="http://schemas.openxmlformats.org/officeDocument/2006/relationships/tableStyles" Target="/ppt/tableStyles.xml" Id="R1f067ae58bf244da" /><Relationship Type="http://schemas.openxmlformats.org/officeDocument/2006/relationships/slide" Target="/ppt/slides/slide1.xml" Id="R8227a87808f04c4e" /><Relationship Type="http://schemas.openxmlformats.org/officeDocument/2006/relationships/slide" Target="/ppt/slides/slide2.xml" Id="Rcbbe3e1c0ada45f5" /><Relationship Type="http://schemas.openxmlformats.org/officeDocument/2006/relationships/slide" Target="/ppt/slides/slide3.xml" Id="Rdc899b19d514429e" /><Relationship Type="http://schemas.openxmlformats.org/officeDocument/2006/relationships/slide" Target="/ppt/slides/slide4.xml" Id="R9a1f0ed58e904d32" /><Relationship Type="http://schemas.openxmlformats.org/officeDocument/2006/relationships/slide" Target="/ppt/slides/slide5.xml" Id="Rf35e1c666f4c4794" /><Relationship Type="http://schemas.openxmlformats.org/officeDocument/2006/relationships/slide" Target="/ppt/slides/slide6.xml" Id="Rd8c949f97b0f4da6" /><Relationship Type="http://schemas.openxmlformats.org/officeDocument/2006/relationships/slide" Target="/ppt/slides/slide7.xml" Id="Rbc601a0b0a5849e5" /><Relationship Type="http://schemas.openxmlformats.org/officeDocument/2006/relationships/slide" Target="/ppt/slides/slide8.xml" Id="R7e1dd57d131040b9" /><Relationship Type="http://schemas.openxmlformats.org/officeDocument/2006/relationships/slide" Target="/ppt/slides/slide9.xml" Id="Ra94a24bd2c3c4db3" /><Relationship Type="http://schemas.openxmlformats.org/officeDocument/2006/relationships/slide" Target="/ppt/slides/slide10.xml" Id="R2c4efa2ae7f143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305b93320542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9c9f7d9e454322" /><Relationship Type="http://schemas.openxmlformats.org/officeDocument/2006/relationships/notesMaster" Target="/ppt/notesMasters/notesMaster1.xml" Id="R03eed8e207b246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c78610959c48e9" /><Relationship Type="http://schemas.openxmlformats.org/officeDocument/2006/relationships/notesMaster" Target="/ppt/notesMasters/notesMaster1.xml" Id="Rd4d1851c1e974d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cd19b57f734de4" /><Relationship Type="http://schemas.openxmlformats.org/officeDocument/2006/relationships/notesMaster" Target="/ppt/notesMasters/notesMaster1.xml" Id="R5577fb32c56949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da7cac2493403e" /><Relationship Type="http://schemas.openxmlformats.org/officeDocument/2006/relationships/notesMaster" Target="/ppt/notesMasters/notesMaster1.xml" Id="Rd5e648d0f33d4e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7bae588b6d49c0" /><Relationship Type="http://schemas.openxmlformats.org/officeDocument/2006/relationships/notesMaster" Target="/ppt/notesMasters/notesMaster1.xml" Id="Rac4301f0bab54f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eac4fac01a456a" /><Relationship Type="http://schemas.openxmlformats.org/officeDocument/2006/relationships/notesMaster" Target="/ppt/notesMasters/notesMaster1.xml" Id="R7e03e0e529d34b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78d9d914544cb5" /><Relationship Type="http://schemas.openxmlformats.org/officeDocument/2006/relationships/notesMaster" Target="/ppt/notesMasters/notesMaster1.xml" Id="R898573b8db2049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48f07a46c7495a" /><Relationship Type="http://schemas.openxmlformats.org/officeDocument/2006/relationships/notesMaster" Target="/ppt/notesMasters/notesMaster1.xml" Id="Rd6e632785e5d4a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5e847963234c83" /><Relationship Type="http://schemas.openxmlformats.org/officeDocument/2006/relationships/notesMaster" Target="/ppt/notesMasters/notesMaster1.xml" Id="R334f2d5ed95449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e1651eed8d4da7" /><Relationship Type="http://schemas.openxmlformats.org/officeDocument/2006/relationships/notesMaster" Target="/ppt/notesMasters/notesMaster1.xml" Id="R564dbdb7a58d47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interpretation is the author's inference from two differently scoped reporting periods.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https://doi.org/10.1108/JSTP-08-2019-0181</a:t>
            </a:r>
          </a:p>
          <a:p xmlns:a="http://schemas.openxmlformats.org/drawingml/2006/main">
            <a:r>
              <a:t>https://experts.umn.edu/en/publications/self-reference-effect-and-consumer-brands/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five-stage loop is the author's proposed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pilot design is the author's recommendation.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metric hierarchy is the author's proposal.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https://www.coca-colacompany.com/content/dam/corporate/us/en/media-center/Coca-Cola-2025-Q2-Earnings-Release-Full-Release-7.22.25.pdf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90-day plan is the author's recommendation.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https://www.coca-colacompany.com/media-center/coca-cola-reports-first-quarter-2025-results</a:t>
            </a:r>
          </a:p>
          <a:p xmlns:a="http://schemas.openxmlformats.org/drawingml/2006/main">
            <a:r>
              <a:t>https://www.sec.gov/Archives/edgar/data/21344/000162828026010047/ko-20251231.htm</a:t>
            </a:r>
          </a:p>
          <a:p xmlns:a="http://schemas.openxmlformats.org/drawingml/2006/main">
            <a:r>
              <a:t>https://www.coca-colacompany.com/media-center/iconic-share-a-coke-is-back-for-a-new-generation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3ea4c779d946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fbe00e878b4145" /><Relationship Type="http://schemas.openxmlformats.org/officeDocument/2006/relationships/slideLayout" Target="/ppt/slideLayouts/slideLayout1.xml" Id="Rc6398873cb7649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398873cb7649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5a98f373c468c" /><Relationship Type="http://schemas.openxmlformats.org/officeDocument/2006/relationships/notesSlide" Target="/ppt/notesSlides/notesSlide1.xml" Id="R3171e3d199404f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86a14c02b4d73" /><Relationship Type="http://schemas.openxmlformats.org/officeDocument/2006/relationships/notesSlide" Target="/ppt/notesSlides/notesSlide2.xml" Id="R42f0df7f603144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7bc6bd2904deb" /><Relationship Type="http://schemas.openxmlformats.org/officeDocument/2006/relationships/notesSlide" Target="/ppt/notesSlides/notesSlide3.xml" Id="R61f55608100147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5df47a3f04017" /><Relationship Type="http://schemas.openxmlformats.org/officeDocument/2006/relationships/notesSlide" Target="/ppt/notesSlides/notesSlide4.xml" Id="Rf7b959cd3ee448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bad661c4a41d5" /><Relationship Type="http://schemas.openxmlformats.org/officeDocument/2006/relationships/notesSlide" Target="/ppt/notesSlides/notesSlide5.xml" Id="Rc0d9bb17188d41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013b9aade4c76" /><Relationship Type="http://schemas.openxmlformats.org/officeDocument/2006/relationships/notesSlide" Target="/ppt/notesSlides/notesSlide6.xml" Id="Rab783e2a5f2445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e8cd6f52746ae" /><Relationship Type="http://schemas.openxmlformats.org/officeDocument/2006/relationships/notesSlide" Target="/ppt/notesSlides/notesSlide7.xml" Id="R0676c3ef360549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cff7669f14849" /><Relationship Type="http://schemas.openxmlformats.org/officeDocument/2006/relationships/notesSlide" Target="/ppt/notesSlides/notesSlide8.xml" Id="R61db4cf6a24043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5866308be46d3" /><Relationship Type="http://schemas.openxmlformats.org/officeDocument/2006/relationships/notesSlide" Target="/ppt/notesSlides/notesSlide9.xml" Id="Rc9fe0b319cdf44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f66fc2cba43c9" /><Relationship Type="http://schemas.openxmlformats.org/officeDocument/2006/relationships/notesSlide" Target="/ppt/notesSlides/notesSlide10.xml" Id="R82a4f50fc8b24f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DBC87-D38B-472B-9FAD-895F72CD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qy10ypf44vq">
            <a:extLst xmlns:a="http://schemas.openxmlformats.org/drawingml/2006/main">
              <a:ext uri="{FF2B5EF4-FFF2-40B4-BE49-F238E27FC236}">
                <a16:creationId xmlns:a16="http://schemas.microsoft.com/office/drawing/2014/main" id="{9F17F06B-7D9C-4A7E-AF48-95EC1ADE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3" name="text-y8xqzftls7d">
            <a:extLst xmlns:a="http://schemas.openxmlformats.org/drawingml/2006/main">
              <a:ext uri="{FF2B5EF4-FFF2-40B4-BE49-F238E27FC236}">
                <a16:creationId xmlns:a16="http://schemas.microsoft.com/office/drawing/2014/main" id="{1B55D65C-D7DD-4075-B904-C4B6D225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Turning big moments into repeatable Coca-Cola occasions in India</a:t>
            </a:r>
          </a:p>
        </p:txBody>
      </p:sp>
      <p:sp>
        <p:nvSpPr>
          <p:cNvPr id="4" name="text-3uwqikrkxqb">
            <a:extLst xmlns:a="http://schemas.openxmlformats.org/drawingml/2006/main">
              <a:ext uri="{FF2B5EF4-FFF2-40B4-BE49-F238E27FC236}">
                <a16:creationId xmlns:a16="http://schemas.microsoft.com/office/drawing/2014/main" id="{180993D8-209F-4CB8-8973-0B822ACF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three-cell outlet test for personalization, repeat purchase and unit economics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6F306-DB9D-486F-9C91-38C1986E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0"/>
            <a:ext cx="401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n6lufenej8">
            <a:extLst xmlns:a="http://schemas.openxmlformats.org/drawingml/2006/main">
              <a:ext uri="{FF2B5EF4-FFF2-40B4-BE49-F238E27FC236}">
                <a16:creationId xmlns:a16="http://schemas.microsoft.com/office/drawing/2014/main" id="{43B40331-E187-4854-BE9A-B829594C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95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180M+</a:t>
            </a:r>
          </a:p>
        </p:txBody>
      </p:sp>
      <p:sp>
        <p:nvSpPr>
          <p:cNvPr id="7" name="text-6zyl7jjt2u7">
            <a:extLst xmlns:a="http://schemas.openxmlformats.org/drawingml/2006/main">
              <a:ext uri="{FF2B5EF4-FFF2-40B4-BE49-F238E27FC236}">
                <a16:creationId xmlns:a16="http://schemas.microsoft.com/office/drawing/2014/main" id="{12633BBD-7B5B-4F58-BAC2-A7EA1E38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servings reported at the 2025 Maha Kumbh activation</a:t>
            </a:r>
          </a:p>
        </p:txBody>
      </p:sp>
      <p:sp>
        <p:nvSpPr>
          <p:cNvPr id="8" name="text-35synjic5z2">
            <a:extLst xmlns:a="http://schemas.openxmlformats.org/drawingml/2006/main">
              <a:ext uri="{FF2B5EF4-FFF2-40B4-BE49-F238E27FC236}">
                <a16:creationId xmlns:a16="http://schemas.microsoft.com/office/drawing/2014/main" id="{043F17E0-0EDE-4468-9DDD-A501D5A2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Keshav Kapoor  |  2026</a:t>
            </a:r>
          </a:p>
        </p:txBody>
      </p:sp>
    </p:spTree>
    <p:extLst>
      <p:ext uri="{BB962C8B-B14F-4D97-AF65-F5344CB8AC3E}">
        <p14:creationId xmlns:p14="http://schemas.microsoft.com/office/powerpoint/2010/main" val="13324793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dr04fsssa2k">
            <a:extLst xmlns:a="http://schemas.openxmlformats.org/drawingml/2006/main">
              <a:ext uri="{FF2B5EF4-FFF2-40B4-BE49-F238E27FC236}">
                <a16:creationId xmlns:a16="http://schemas.microsoft.com/office/drawing/2014/main" id="{14C43424-966C-4D10-A78B-008D6F56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s6e2pjt0vq">
            <a:extLst xmlns:a="http://schemas.openxmlformats.org/drawingml/2006/main">
              <a:ext uri="{FF2B5EF4-FFF2-40B4-BE49-F238E27FC236}">
                <a16:creationId xmlns:a16="http://schemas.microsoft.com/office/drawing/2014/main" id="{B4EA8C15-A393-45EB-A489-CCF943B5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 one high-reach occasion into a second purchase</a:t>
            </a:r>
          </a:p>
        </p:txBody>
      </p:sp>
      <p:sp>
        <p:nvSpPr>
          <p:cNvPr id="3" name="text-e48mvaysld">
            <a:extLst xmlns:a="http://schemas.openxmlformats.org/drawingml/2006/main">
              <a:ext uri="{FF2B5EF4-FFF2-40B4-BE49-F238E27FC236}">
                <a16:creationId xmlns:a16="http://schemas.microsoft.com/office/drawing/2014/main" id="{2C8D6C98-9A5A-4190-8FC9-7CD0290C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-bul4qxzh2">
            <a:extLst xmlns:a="http://schemas.openxmlformats.org/drawingml/2006/main">
              <a:ext uri="{FF2B5EF4-FFF2-40B4-BE49-F238E27FC236}">
                <a16:creationId xmlns:a16="http://schemas.microsoft.com/office/drawing/2014/main" id="{EA57FD1D-F52B-4A65-8409-F58EFDBD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62125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8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Link the first shared drink to a clear return occasion.</a:t>
            </a:r>
          </a:p>
        </p:txBody>
      </p:sp>
      <p:sp>
        <p:nvSpPr>
          <p:cNvPr id="5" name="text-wxzq63jksq">
            <a:extLst xmlns:a="http://schemas.openxmlformats.org/drawingml/2006/main">
              <a:ext uri="{FF2B5EF4-FFF2-40B4-BE49-F238E27FC236}">
                <a16:creationId xmlns:a16="http://schemas.microsoft.com/office/drawing/2014/main" id="{9ED57FB4-A994-4F71-ACDB-5494E8B2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0375"/>
            <a:ext cx="68103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festival, campus moment or group celebration can create trial. Repeat depends on a second occasion, an available pack and a simple reason to return.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8688B-8484-4F19-9B48-32829AAE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62125"/>
            <a:ext cx="3429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i0yh8y5q5x">
            <a:extLst xmlns:a="http://schemas.openxmlformats.org/drawingml/2006/main">
              <a:ext uri="{FF2B5EF4-FFF2-40B4-BE49-F238E27FC236}">
                <a16:creationId xmlns:a16="http://schemas.microsoft.com/office/drawing/2014/main" id="{F1383016-E4F0-4D82-A931-A34B7435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logic</a:t>
            </a:r>
          </a:p>
        </p:txBody>
      </p:sp>
      <p:sp>
        <p:nvSpPr>
          <p:cNvPr id="8" name="text-smdvvcads9s">
            <a:extLst xmlns:a="http://schemas.openxmlformats.org/drawingml/2006/main">
              <a:ext uri="{FF2B5EF4-FFF2-40B4-BE49-F238E27FC236}">
                <a16:creationId xmlns:a16="http://schemas.microsoft.com/office/drawing/2014/main" id="{0087E9DF-8874-4488-A717-FA824947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571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232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  Win a real occasion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  Make the pack personally relevant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  Prompt a second group 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  Measure transactions and repeat</a:t>
            </a:r>
          </a:p>
        </p:txBody>
      </p:sp>
      <p:sp>
        <p:nvSpPr>
          <p:cNvPr id="9" name="text-jshwpl6338">
            <a:extLst xmlns:a="http://schemas.openxmlformats.org/drawingml/2006/main">
              <a:ext uri="{FF2B5EF4-FFF2-40B4-BE49-F238E27FC236}">
                <a16:creationId xmlns:a16="http://schemas.microsoft.com/office/drawing/2014/main" id="{8BBBB69E-F655-46CC-AEC4-C26E343B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7687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The outlet test measures whether the second occasion changes purchases.</a:t>
            </a:r>
          </a:p>
        </p:txBody>
      </p:sp>
    </p:spTree>
    <p:extLst>
      <p:ext uri="{BB962C8B-B14F-4D97-AF65-F5344CB8AC3E}">
        <p14:creationId xmlns:p14="http://schemas.microsoft.com/office/powerpoint/2010/main" val="1677586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9kythcwyd6v">
            <a:extLst xmlns:a="http://schemas.openxmlformats.org/drawingml/2006/main">
              <a:ext uri="{FF2B5EF4-FFF2-40B4-BE49-F238E27FC236}">
                <a16:creationId xmlns:a16="http://schemas.microsoft.com/office/drawing/2014/main" id="{34D9F9B1-615D-48C3-90BB-5B9FA679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0cn6t7wflssi">
            <a:extLst xmlns:a="http://schemas.openxmlformats.org/drawingml/2006/main">
              <a:ext uri="{FF2B5EF4-FFF2-40B4-BE49-F238E27FC236}">
                <a16:creationId xmlns:a16="http://schemas.microsoft.com/office/drawing/2014/main" id="{C602E350-B94F-469E-8389-FC941FC6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public evidence raises a repeat-purchase question</a:t>
            </a:r>
          </a:p>
        </p:txBody>
      </p:sp>
      <p:sp>
        <p:nvSpPr>
          <p:cNvPr id="3" name="text-rmwuldxl6fe">
            <a:extLst xmlns:a="http://schemas.openxmlformats.org/drawingml/2006/main">
              <a:ext uri="{FF2B5EF4-FFF2-40B4-BE49-F238E27FC236}">
                <a16:creationId xmlns:a16="http://schemas.microsoft.com/office/drawing/2014/main" id="{51BC3DDF-04B9-4858-8177-B134E862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904875" y="3333750"/>
            <a:ext cx="10096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81F2B-A138-4FCA-9A0E-E7D524A5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yct3x1isab">
            <a:extLst xmlns:a="http://schemas.openxmlformats.org/drawingml/2006/main">
              <a:ext uri="{FF2B5EF4-FFF2-40B4-BE49-F238E27FC236}">
                <a16:creationId xmlns:a16="http://schemas.microsoft.com/office/drawing/2014/main" id="{F9624EA2-B36E-490B-94BE-37DA102E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MAHA KUMBH</a:t>
            </a:r>
          </a:p>
        </p:txBody>
      </p:sp>
      <p:sp>
        <p:nvSpPr>
          <p:cNvPr id="7" name="text-qnfcbwtl2be">
            <a:extLst xmlns:a="http://schemas.openxmlformats.org/drawingml/2006/main">
              <a:ext uri="{FF2B5EF4-FFF2-40B4-BE49-F238E27FC236}">
                <a16:creationId xmlns:a16="http://schemas.microsoft.com/office/drawing/2014/main" id="{2381C8A5-902F-4F7A-AEE0-73531BC4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180M+</a:t>
            </a:r>
          </a:p>
        </p:txBody>
      </p:sp>
      <p:sp>
        <p:nvSpPr>
          <p:cNvPr id="8" name="text-8w6fpgqeuql">
            <a:extLst xmlns:a="http://schemas.openxmlformats.org/drawingml/2006/main">
              <a:ext uri="{FF2B5EF4-FFF2-40B4-BE49-F238E27FC236}">
                <a16:creationId xmlns:a16="http://schemas.microsoft.com/office/drawing/2014/main" id="{B3845B94-355D-45C4-883C-A68DF37A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servings reported during the activation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FE021-BEA8-4129-B886-FB30618E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m8ngcv71pm7">
            <a:extLst xmlns:a="http://schemas.openxmlformats.org/drawingml/2006/main">
              <a:ext uri="{FF2B5EF4-FFF2-40B4-BE49-F238E27FC236}">
                <a16:creationId xmlns:a16="http://schemas.microsoft.com/office/drawing/2014/main" id="{449D251E-D1BF-49BE-98AA-F9E95FBB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Q1 2025 INDIA</a:t>
            </a:r>
          </a:p>
        </p:txBody>
      </p:sp>
      <p:sp>
        <p:nvSpPr>
          <p:cNvPr id="11" name="text-sbud0k7odim">
            <a:extLst xmlns:a="http://schemas.openxmlformats.org/drawingml/2006/main">
              <a:ext uri="{FF2B5EF4-FFF2-40B4-BE49-F238E27FC236}">
                <a16:creationId xmlns:a16="http://schemas.microsoft.com/office/drawing/2014/main" id="{F7648BDC-71CE-4C19-8F8E-B5167E87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Double-digit</a:t>
            </a:r>
          </a:p>
        </p:txBody>
      </p:sp>
      <p:sp>
        <p:nvSpPr>
          <p:cNvPr id="12" name="text-ojgoku1mnkc">
            <a:extLst xmlns:a="http://schemas.openxmlformats.org/drawingml/2006/main">
              <a:ext uri="{FF2B5EF4-FFF2-40B4-BE49-F238E27FC236}">
                <a16:creationId xmlns:a16="http://schemas.microsoft.com/office/drawing/2014/main" id="{EF4EB0CE-0562-4587-9E05-DBC1E748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unit-case volume growth reported for the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98971-438C-4BB5-BEFD-DA4AE28C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00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gv62nbhni5">
            <a:extLst xmlns:a="http://schemas.openxmlformats.org/drawingml/2006/main">
              <a:ext uri="{FF2B5EF4-FFF2-40B4-BE49-F238E27FC236}">
                <a16:creationId xmlns:a16="http://schemas.microsoft.com/office/drawing/2014/main" id="{1E7DB770-ACD7-479B-AD9F-DAE43171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FULL-YEAR 2025</a:t>
            </a:r>
          </a:p>
        </p:txBody>
      </p:sp>
      <p:sp>
        <p:nvSpPr>
          <p:cNvPr id="15" name="text-vyx5mma1mah">
            <a:extLst xmlns:a="http://schemas.openxmlformats.org/drawingml/2006/main">
              <a:ext uri="{FF2B5EF4-FFF2-40B4-BE49-F238E27FC236}">
                <a16:creationId xmlns:a16="http://schemas.microsoft.com/office/drawing/2014/main" id="{6CE8B275-D637-4280-A9D4-306C55BA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Even</a:t>
            </a:r>
          </a:p>
        </p:txBody>
      </p:sp>
      <p:sp>
        <p:nvSpPr>
          <p:cNvPr id="16" name="text-pldeo9or1m">
            <a:extLst xmlns:a="http://schemas.openxmlformats.org/drawingml/2006/main">
              <a:ext uri="{FF2B5EF4-FFF2-40B4-BE49-F238E27FC236}">
                <a16:creationId xmlns:a16="http://schemas.microsoft.com/office/drawing/2014/main" id="{848343A1-1773-4BBE-9F29-F107A2A4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266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unit-case volume for India and Southwest Asia</a:t>
            </a:r>
          </a:p>
        </p:txBody>
      </p:sp>
      <p:sp>
        <p:nvSpPr>
          <p:cNvPr id="17" name="text-45o91h40k6s">
            <a:extLst xmlns:a="http://schemas.openxmlformats.org/drawingml/2006/main">
              <a:ext uri="{FF2B5EF4-FFF2-40B4-BE49-F238E27FC236}">
                <a16:creationId xmlns:a16="http://schemas.microsoft.com/office/drawing/2014/main" id="{89A965EC-E012-4CB0-8816-EC28A078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24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My inference</a:t>
            </a:r>
          </a:p>
        </p:txBody>
      </p:sp>
      <p:sp>
        <p:nvSpPr>
          <p:cNvPr id="18" name="text-elvx9kgy9vf">
            <a:extLst xmlns:a="http://schemas.openxmlformats.org/drawingml/2006/main">
              <a:ext uri="{FF2B5EF4-FFF2-40B4-BE49-F238E27FC236}">
                <a16:creationId xmlns:a16="http://schemas.microsoft.com/office/drawing/2014/main" id="{091E96E5-1363-408E-AEAA-B11FD7CE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activation created reach. The full-year result makes repeat worth testing. Because the reporting periods differ, the conclusion should come from an outlet experiment.</a:t>
            </a:r>
          </a:p>
        </p:txBody>
      </p:sp>
    </p:spTree>
    <p:extLst>
      <p:ext uri="{BB962C8B-B14F-4D97-AF65-F5344CB8AC3E}">
        <p14:creationId xmlns:p14="http://schemas.microsoft.com/office/powerpoint/2010/main" val="19108725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euz96o24kx">
            <a:extLst xmlns:a="http://schemas.openxmlformats.org/drawingml/2006/main">
              <a:ext uri="{FF2B5EF4-FFF2-40B4-BE49-F238E27FC236}">
                <a16:creationId xmlns:a16="http://schemas.microsoft.com/office/drawing/2014/main" id="{619A8001-BE4F-4F2D-B14F-F2D2DDB0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5o9opy08usi">
            <a:extLst xmlns:a="http://schemas.openxmlformats.org/drawingml/2006/main">
              <a:ext uri="{FF2B5EF4-FFF2-40B4-BE49-F238E27FC236}">
                <a16:creationId xmlns:a16="http://schemas.microsoft.com/office/drawing/2014/main" id="{5E13E78A-FC71-4228-AF77-57ED1950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Personalization creates a cue people can recognize and share</a:t>
            </a:r>
          </a:p>
        </p:txBody>
      </p:sp>
      <p:sp>
        <p:nvSpPr>
          <p:cNvPr id="3" name="text-spb76lpias">
            <a:extLst xmlns:a="http://schemas.openxmlformats.org/drawingml/2006/main">
              <a:ext uri="{FF2B5EF4-FFF2-40B4-BE49-F238E27FC236}">
                <a16:creationId xmlns:a16="http://schemas.microsoft.com/office/drawing/2014/main" id="{20FE31F3-0176-4CC6-B6FC-D3D0A07B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ext-cbt2o04jetb">
            <a:extLst xmlns:a="http://schemas.openxmlformats.org/drawingml/2006/main">
              <a:ext uri="{FF2B5EF4-FFF2-40B4-BE49-F238E27FC236}">
                <a16:creationId xmlns:a16="http://schemas.microsoft.com/office/drawing/2014/main" id="{3206EB6E-49FD-4A8C-8016-5EB76EBE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SELF CUE</a:t>
            </a:r>
          </a:p>
        </p:txBody>
      </p:sp>
      <p:sp>
        <p:nvSpPr>
          <p:cNvPr id="5" name="text-tml84dcm9ff">
            <a:extLst xmlns:a="http://schemas.openxmlformats.org/drawingml/2006/main">
              <a:ext uri="{FF2B5EF4-FFF2-40B4-BE49-F238E27FC236}">
                <a16:creationId xmlns:a16="http://schemas.microsoft.com/office/drawing/2014/main" id="{5E3BE2D2-5477-45D5-AB23-277047B9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feels like mine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143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7" name="text-htg8mglocx">
            <a:extLst xmlns:a="http://schemas.openxmlformats.org/drawingml/2006/main">
              <a:ext uri="{FF2B5EF4-FFF2-40B4-BE49-F238E27FC236}">
                <a16:creationId xmlns:a16="http://schemas.microsoft.com/office/drawing/2014/main" id="{D8DC9C73-170A-4A88-8B4E-C4725217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Self-reference can make brand information easier to remember.</a:t>
            </a:r>
          </a:p>
        </p:txBody>
      </p:sp>
      <p:sp>
        <p:nvSpPr>
          <p:cNvPr id="8" name="text-8cdekx00i3q">
            <a:extLst xmlns:a="http://schemas.openxmlformats.org/drawingml/2006/main">
              <a:ext uri="{FF2B5EF4-FFF2-40B4-BE49-F238E27FC236}">
                <a16:creationId xmlns:a16="http://schemas.microsoft.com/office/drawing/2014/main" id="{9529ABF9-9299-4EE3-B1FB-60466C6B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9" name="text-x3ij7h01nhr">
            <a:extLst xmlns:a="http://schemas.openxmlformats.org/drawingml/2006/main">
              <a:ext uri="{FF2B5EF4-FFF2-40B4-BE49-F238E27FC236}">
                <a16:creationId xmlns:a16="http://schemas.microsoft.com/office/drawing/2014/main" id="{97BE8D56-F353-4EA5-BE5C-C810D820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 helped choose it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2481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41E2B"/>
            </a:solidFill>
            <a:prstDash val="solid"/>
          </a:ln>
        </p:spPr>
      </p:cxnSp>
      <p:sp>
        <p:nvSpPr>
          <p:cNvPr id="11" name="text-nje8jzq2tti">
            <a:extLst xmlns:a="http://schemas.openxmlformats.org/drawingml/2006/main">
              <a:ext uri="{FF2B5EF4-FFF2-40B4-BE49-F238E27FC236}">
                <a16:creationId xmlns:a16="http://schemas.microsoft.com/office/drawing/2014/main" id="{423FDF63-2956-40B5-96F3-29EE5E94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Adding a customer's name may build psychological ownership and improve product attitude.</a:t>
            </a:r>
          </a:p>
        </p:txBody>
      </p:sp>
      <p:sp>
        <p:nvSpPr>
          <p:cNvPr id="12" name="text-ylwmpzzy67">
            <a:extLst xmlns:a="http://schemas.openxmlformats.org/drawingml/2006/main">
              <a:ext uri="{FF2B5EF4-FFF2-40B4-BE49-F238E27FC236}">
                <a16:creationId xmlns:a16="http://schemas.microsoft.com/office/drawing/2014/main" id="{8A083B83-219D-4C23-B5A3-B820D122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095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SHARING</a:t>
            </a:r>
          </a:p>
        </p:txBody>
      </p:sp>
      <p:sp>
        <p:nvSpPr>
          <p:cNvPr id="13" name="text-htzlumrzxgr">
            <a:extLst xmlns:a="http://schemas.openxmlformats.org/drawingml/2006/main">
              <a:ext uri="{FF2B5EF4-FFF2-40B4-BE49-F238E27FC236}">
                <a16:creationId xmlns:a16="http://schemas.microsoft.com/office/drawing/2014/main" id="{DDA03136-1A06-492D-B4D5-6651FF3F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09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for someone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7981950" y="30480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5" name="text-e1fqsncnnfc">
            <a:extLst xmlns:a="http://schemas.openxmlformats.org/drawingml/2006/main">
              <a:ext uri="{FF2B5EF4-FFF2-40B4-BE49-F238E27FC236}">
                <a16:creationId xmlns:a16="http://schemas.microsoft.com/office/drawing/2014/main" id="{311AB609-6D9A-428E-B0CE-2CC2D7EA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3095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 a Coke turns the pack into an invitation to give or start a group moment.</a:t>
            </a:r>
          </a:p>
        </p:txBody>
      </p:sp>
      <p:sp>
        <p:nvSpPr>
          <p:cNvPr id="16" name="text-bzlb4k3x4af">
            <a:extLst xmlns:a="http://schemas.openxmlformats.org/drawingml/2006/main">
              <a:ext uri="{FF2B5EF4-FFF2-40B4-BE49-F238E27FC236}">
                <a16:creationId xmlns:a16="http://schemas.microsoft.com/office/drawing/2014/main" id="{A8E2D3F5-4319-4AA7-80B2-50515B43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Design implication</a:t>
            </a:r>
          </a:p>
        </p:txBody>
      </p:sp>
      <p:sp>
        <p:nvSpPr>
          <p:cNvPr id="17" name="text-jb3el7uhlb">
            <a:extLst xmlns:a="http://schemas.openxmlformats.org/drawingml/2006/main">
              <a:ext uri="{FF2B5EF4-FFF2-40B4-BE49-F238E27FC236}">
                <a16:creationId xmlns:a16="http://schemas.microsoft.com/office/drawing/2014/main" id="{EEFF1CA3-1ADA-4503-A962-A97E5FBD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67350"/>
            <a:ext cx="919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Tie the name or role to a real relationship and a second occasion that can be observed at the outlet.</a:t>
            </a:r>
          </a:p>
        </p:txBody>
      </p:sp>
    </p:spTree>
    <p:extLst>
      <p:ext uri="{BB962C8B-B14F-4D97-AF65-F5344CB8AC3E}">
        <p14:creationId xmlns:p14="http://schemas.microsoft.com/office/powerpoint/2010/main" val="14799443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y7yqd0yrmoe">
            <a:extLst xmlns:a="http://schemas.openxmlformats.org/drawingml/2006/main">
              <a:ext uri="{FF2B5EF4-FFF2-40B4-BE49-F238E27FC236}">
                <a16:creationId xmlns:a16="http://schemas.microsoft.com/office/drawing/2014/main" id="{22A5A81A-BD85-40CB-9C68-03E14C20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fm0sytt9oxw">
            <a:extLst xmlns:a="http://schemas.openxmlformats.org/drawingml/2006/main">
              <a:ext uri="{FF2B5EF4-FFF2-40B4-BE49-F238E27FC236}">
                <a16:creationId xmlns:a16="http://schemas.microsoft.com/office/drawing/2014/main" id="{7EC665DB-CE3C-42F0-9434-C35F7C9F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repeat mechanism needs five linked steps</a:t>
            </a:r>
          </a:p>
        </p:txBody>
      </p:sp>
      <p:sp>
        <p:nvSpPr>
          <p:cNvPr id="3" name="text-yulvs2toa5d">
            <a:extLst xmlns:a="http://schemas.openxmlformats.org/drawingml/2006/main">
              <a:ext uri="{FF2B5EF4-FFF2-40B4-BE49-F238E27FC236}">
                <a16:creationId xmlns:a16="http://schemas.microsoft.com/office/drawing/2014/main" id="{0B442FBC-AF83-47DA-990C-F535592D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110490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1A31F-4920-493C-B63F-D7ACBB56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o06qknuci7">
            <a:extLst xmlns:a="http://schemas.openxmlformats.org/drawingml/2006/main">
              <a:ext uri="{FF2B5EF4-FFF2-40B4-BE49-F238E27FC236}">
                <a16:creationId xmlns:a16="http://schemas.microsoft.com/office/drawing/2014/main" id="{2CFF1D5F-41E6-454E-9AEB-B2CFA638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-22icvk75376">
            <a:extLst xmlns:a="http://schemas.openxmlformats.org/drawingml/2006/main">
              <a:ext uri="{FF2B5EF4-FFF2-40B4-BE49-F238E27FC236}">
                <a16:creationId xmlns:a16="http://schemas.microsoft.com/office/drawing/2014/main" id="{74EDB2EE-1201-49AD-A6EE-9E19294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Moment</a:t>
            </a:r>
          </a:p>
        </p:txBody>
      </p:sp>
      <p:sp>
        <p:nvSpPr>
          <p:cNvPr id="8" name="text-j658531yqaf">
            <a:extLst xmlns:a="http://schemas.openxmlformats.org/drawingml/2006/main">
              <a:ext uri="{FF2B5EF4-FFF2-40B4-BE49-F238E27FC236}">
                <a16:creationId xmlns:a16="http://schemas.microsoft.com/office/drawing/2014/main" id="{6E8CDE2A-7726-4E03-9907-6EAD5EB9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Festival, campus break or group celebration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337185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DE0C0-8D7D-4E5E-B113-8B78D7A2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7gnm8qmtnzx">
            <a:extLst xmlns:a="http://schemas.openxmlformats.org/drawingml/2006/main">
              <a:ext uri="{FF2B5EF4-FFF2-40B4-BE49-F238E27FC236}">
                <a16:creationId xmlns:a16="http://schemas.microsoft.com/office/drawing/2014/main" id="{5E7FD104-4436-4704-A66C-0488A70A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-s90fvyccc7">
            <a:extLst xmlns:a="http://schemas.openxmlformats.org/drawingml/2006/main">
              <a:ext uri="{FF2B5EF4-FFF2-40B4-BE49-F238E27FC236}">
                <a16:creationId xmlns:a16="http://schemas.microsoft.com/office/drawing/2014/main" id="{BECFED0D-D82F-41C0-974C-51F8F17C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 cue</a:t>
            </a:r>
          </a:p>
        </p:txBody>
      </p:sp>
      <p:sp>
        <p:nvSpPr>
          <p:cNvPr id="13" name="text-a8cxkz8czbe">
            <a:extLst xmlns:a="http://schemas.openxmlformats.org/drawingml/2006/main">
              <a:ext uri="{FF2B5EF4-FFF2-40B4-BE49-F238E27FC236}">
                <a16:creationId xmlns:a16="http://schemas.microsoft.com/office/drawing/2014/main" id="{4E912214-BFFA-4BC0-8813-BA7F555D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Name, role or relationship that feels relevant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563880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2D94A-3147-44CA-9364-ABCDEE11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ckz4ege3l3">
            <a:extLst xmlns:a="http://schemas.openxmlformats.org/drawingml/2006/main">
              <a:ext uri="{FF2B5EF4-FFF2-40B4-BE49-F238E27FC236}">
                <a16:creationId xmlns:a16="http://schemas.microsoft.com/office/drawing/2014/main" id="{4E286399-A1B9-4672-89DC-C39E5CCB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-6unjfh833yt">
            <a:extLst xmlns:a="http://schemas.openxmlformats.org/drawingml/2006/main">
              <a:ext uri="{FF2B5EF4-FFF2-40B4-BE49-F238E27FC236}">
                <a16:creationId xmlns:a16="http://schemas.microsoft.com/office/drawing/2014/main" id="{CA5057C5-FD7A-4D1E-A58E-8BBEAB16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Shared drink</a:t>
            </a:r>
          </a:p>
        </p:txBody>
      </p:sp>
      <p:sp>
        <p:nvSpPr>
          <p:cNvPr id="18" name="text-0z38canu6mvd">
            <a:extLst xmlns:a="http://schemas.openxmlformats.org/drawingml/2006/main">
              <a:ext uri="{FF2B5EF4-FFF2-40B4-BE49-F238E27FC236}">
                <a16:creationId xmlns:a16="http://schemas.microsoft.com/office/drawing/2014/main" id="{9328D1FD-2D38-480D-BC4E-E1E6582D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visible group action at the occasion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7905750" y="2924175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7D7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B52CD5-2C79-4275-8B96-E519346C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-22arg6fv9cvj">
            <a:extLst xmlns:a="http://schemas.openxmlformats.org/drawingml/2006/main">
              <a:ext uri="{FF2B5EF4-FFF2-40B4-BE49-F238E27FC236}">
                <a16:creationId xmlns:a16="http://schemas.microsoft.com/office/drawing/2014/main" id="{40669A0D-1911-4BE5-BA1F-B59FA014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text-qzunq5ryeq">
            <a:extLst xmlns:a="http://schemas.openxmlformats.org/drawingml/2006/main">
              <a:ext uri="{FF2B5EF4-FFF2-40B4-BE49-F238E27FC236}">
                <a16:creationId xmlns:a16="http://schemas.microsoft.com/office/drawing/2014/main" id="{0E9DF9AB-ED49-4C61-B8BD-C8686188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 prompt</a:t>
            </a:r>
          </a:p>
        </p:txBody>
      </p:sp>
      <p:sp>
        <p:nvSpPr>
          <p:cNvPr id="23" name="text-ptmrh43c33">
            <a:extLst xmlns:a="http://schemas.openxmlformats.org/drawingml/2006/main">
              <a:ext uri="{FF2B5EF4-FFF2-40B4-BE49-F238E27FC236}">
                <a16:creationId xmlns:a16="http://schemas.microsoft.com/office/drawing/2014/main" id="{09F5ED44-39FB-4D44-B51B-1F68BE6A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 clear next occasion within 14 to 30 days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BDADB-21A9-436B-9EE0-DFEEE0FD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9chobe12s1u">
            <a:extLst xmlns:a="http://schemas.openxmlformats.org/drawingml/2006/main">
              <a:ext uri="{FF2B5EF4-FFF2-40B4-BE49-F238E27FC236}">
                <a16:creationId xmlns:a16="http://schemas.microsoft.com/office/drawing/2014/main" id="{83574BDA-83D5-461B-B8CE-A998AD10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8130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text-zna5ezpq8cn">
            <a:extLst xmlns:a="http://schemas.openxmlformats.org/drawingml/2006/main">
              <a:ext uri="{FF2B5EF4-FFF2-40B4-BE49-F238E27FC236}">
                <a16:creationId xmlns:a16="http://schemas.microsoft.com/office/drawing/2014/main" id="{3213A8E3-75C4-4CAB-AB6F-9CF66B6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766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ritual</a:t>
            </a:r>
          </a:p>
        </p:txBody>
      </p:sp>
      <p:sp>
        <p:nvSpPr>
          <p:cNvPr id="27" name="text-3hvmj4k4p0r">
            <a:extLst xmlns:a="http://schemas.openxmlformats.org/drawingml/2006/main">
              <a:ext uri="{FF2B5EF4-FFF2-40B4-BE49-F238E27FC236}">
                <a16:creationId xmlns:a16="http://schemas.microsoft.com/office/drawing/2014/main" id="{68339137-189F-45FE-A636-1CC73D17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00500"/>
            <a:ext cx="1952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Availability and message stay consistent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ACBB59-955A-4AE4-88AC-A0967A11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1095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-p4maz537as">
            <a:extLst xmlns:a="http://schemas.openxmlformats.org/drawingml/2006/main">
              <a:ext uri="{FF2B5EF4-FFF2-40B4-BE49-F238E27FC236}">
                <a16:creationId xmlns:a16="http://schemas.microsoft.com/office/drawing/2014/main" id="{A73E4D17-ECA0-40FA-B9D9-AB7BD321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53075"/>
            <a:ext cx="10429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50D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50D17"/>
                </a:solidFill>
                <a:latin typeface="Arial"/>
                <a:ea typeface="Arial"/>
                <a:cs typeface="Arial"/>
              </a:rPr>
              <a:t>The second purchase decides whether the loop is working.</a:t>
            </a:r>
          </a:p>
        </p:txBody>
      </p:sp>
    </p:spTree>
    <p:extLst>
      <p:ext uri="{BB962C8B-B14F-4D97-AF65-F5344CB8AC3E}">
        <p14:creationId xmlns:p14="http://schemas.microsoft.com/office/powerpoint/2010/main" val="14412307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p4a2p0ex66t">
            <a:extLst xmlns:a="http://schemas.openxmlformats.org/drawingml/2006/main">
              <a:ext uri="{FF2B5EF4-FFF2-40B4-BE49-F238E27FC236}">
                <a16:creationId xmlns:a16="http://schemas.microsoft.com/office/drawing/2014/main" id="{7B20C00D-8DCC-4828-BF6A-123278CC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yx6pouv7zqj">
            <a:extLst xmlns:a="http://schemas.openxmlformats.org/drawingml/2006/main">
              <a:ext uri="{FF2B5EF4-FFF2-40B4-BE49-F238E27FC236}">
                <a16:creationId xmlns:a16="http://schemas.microsoft.com/office/drawing/2014/main" id="{EB769AB3-FB39-4D49-BCA1-01F1E305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 three outlet treatments</a:t>
            </a:r>
          </a:p>
        </p:txBody>
      </p:sp>
      <p:sp>
        <p:nvSpPr>
          <p:cNvPr id="3" name="text-lvvwn0mv0z">
            <a:extLst xmlns:a="http://schemas.openxmlformats.org/drawingml/2006/main">
              <a:ext uri="{FF2B5EF4-FFF2-40B4-BE49-F238E27FC236}">
                <a16:creationId xmlns:a16="http://schemas.microsoft.com/office/drawing/2014/main" id="{D8545336-CF78-496A-80CE-62707EB0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-32gtrkajave">
            <a:extLst xmlns:a="http://schemas.openxmlformats.org/drawingml/2006/main">
              <a:ext uri="{FF2B5EF4-FFF2-40B4-BE49-F238E27FC236}">
                <a16:creationId xmlns:a16="http://schemas.microsoft.com/office/drawing/2014/main" id="{896143F4-EE03-4B73-BA6E-9E53E9F4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CELL</a:t>
            </a:r>
          </a:p>
        </p:txBody>
      </p:sp>
      <p:sp>
        <p:nvSpPr>
          <p:cNvPr id="5" name="text-0egf8o90mm75">
            <a:extLst xmlns:a="http://schemas.openxmlformats.org/drawingml/2006/main">
              <a:ext uri="{FF2B5EF4-FFF2-40B4-BE49-F238E27FC236}">
                <a16:creationId xmlns:a16="http://schemas.microsoft.com/office/drawing/2014/main" id="{C9C93E19-2D11-4241-968B-64832C82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335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6" name="text-iyj1ziekdf">
            <a:extLst xmlns:a="http://schemas.openxmlformats.org/drawingml/2006/main">
              <a:ext uri="{FF2B5EF4-FFF2-40B4-BE49-F238E27FC236}">
                <a16:creationId xmlns:a16="http://schemas.microsoft.com/office/drawing/2014/main" id="{7FE9FE88-0BE5-493A-902B-01B92653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3355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6464"/>
                </a:solidFill>
                <a:latin typeface="Arial"/>
                <a:ea typeface="Arial"/>
                <a:cs typeface="Arial"/>
              </a:rPr>
              <a:t>WHAT CHANGES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14350" y="20383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8" name="text-cnudhr69zh6">
            <a:extLst xmlns:a="http://schemas.openxmlformats.org/drawingml/2006/main">
              <a:ext uri="{FF2B5EF4-FFF2-40B4-BE49-F238E27FC236}">
                <a16:creationId xmlns:a16="http://schemas.microsoft.com/office/drawing/2014/main" id="{5F40ACCD-4D70-445D-B693-614A73D1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text-lz7arv2nme">
            <a:extLst xmlns:a="http://schemas.openxmlformats.org/drawingml/2006/main">
              <a:ext uri="{FF2B5EF4-FFF2-40B4-BE49-F238E27FC236}">
                <a16:creationId xmlns:a16="http://schemas.microsoft.com/office/drawing/2014/main" id="{FC013618-BE43-47A3-93D8-D918FED2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669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Business as usual</a:t>
            </a:r>
          </a:p>
        </p:txBody>
      </p:sp>
      <p:sp>
        <p:nvSpPr>
          <p:cNvPr id="10" name="text-7qwxvx0hjlh">
            <a:extLst xmlns:a="http://schemas.openxmlformats.org/drawingml/2006/main">
              <a:ext uri="{FF2B5EF4-FFF2-40B4-BE49-F238E27FC236}">
                <a16:creationId xmlns:a16="http://schemas.microsoft.com/office/drawing/2014/main" id="{43BECAA7-78EF-4866-8621-213F9AD3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Current assortment, display and communication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514350" y="30670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2" name="text-kmbuq8u35hs">
            <a:extLst xmlns:a="http://schemas.openxmlformats.org/drawingml/2006/main">
              <a:ext uri="{FF2B5EF4-FFF2-40B4-BE49-F238E27FC236}">
                <a16:creationId xmlns:a16="http://schemas.microsoft.com/office/drawing/2014/main" id="{9E9BC6D8-31AE-48B1-8816-847F29C8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3" name="text-7vtmlfiakcr">
            <a:extLst xmlns:a="http://schemas.openxmlformats.org/drawingml/2006/main">
              <a:ext uri="{FF2B5EF4-FFF2-40B4-BE49-F238E27FC236}">
                <a16:creationId xmlns:a16="http://schemas.microsoft.com/office/drawing/2014/main" id="{53B6777F-D617-4D72-942A-7A957992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Personalized occasion cue</a:t>
            </a:r>
          </a:p>
        </p:txBody>
      </p:sp>
      <p:sp>
        <p:nvSpPr>
          <p:cNvPr id="14" name="text-ga4iixqt9y9">
            <a:extLst xmlns:a="http://schemas.openxmlformats.org/drawingml/2006/main">
              <a:ext uri="{FF2B5EF4-FFF2-40B4-BE49-F238E27FC236}">
                <a16:creationId xmlns:a16="http://schemas.microsoft.com/office/drawing/2014/main" id="{2D0705A1-27D8-4C00-B1CB-918EC8F6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Locally reviewed name, role or relationship cue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514350" y="41338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6" name="text-eujypfvbgif">
            <a:extLst xmlns:a="http://schemas.openxmlformats.org/drawingml/2006/main">
              <a:ext uri="{FF2B5EF4-FFF2-40B4-BE49-F238E27FC236}">
                <a16:creationId xmlns:a16="http://schemas.microsoft.com/office/drawing/2014/main" id="{56B686A1-8211-4C8F-AD71-BEF0CE5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7" name="text-a6krououqe8">
            <a:extLst xmlns:a="http://schemas.openxmlformats.org/drawingml/2006/main">
              <a:ext uri="{FF2B5EF4-FFF2-40B4-BE49-F238E27FC236}">
                <a16:creationId xmlns:a16="http://schemas.microsoft.com/office/drawing/2014/main" id="{577F7465-1830-48DF-8759-A549D42C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Cue plus repeat loop</a:t>
            </a:r>
          </a:p>
        </p:txBody>
      </p:sp>
      <p:sp>
        <p:nvSpPr>
          <p:cNvPr id="18" name="text-9papuv32sh8">
            <a:extLst xmlns:a="http://schemas.openxmlformats.org/drawingml/2006/main">
              <a:ext uri="{FF2B5EF4-FFF2-40B4-BE49-F238E27FC236}">
                <a16:creationId xmlns:a16="http://schemas.microsoft.com/office/drawing/2014/main" id="{629A5087-7810-4C05-811A-43B7D5CF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005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Group-share prompt and an opt-in return mechanism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514350" y="52006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0" name="text-0k86dmpasrqa">
            <a:extLst xmlns:a="http://schemas.openxmlformats.org/drawingml/2006/main">
              <a:ext uri="{FF2B5EF4-FFF2-40B4-BE49-F238E27FC236}">
                <a16:creationId xmlns:a16="http://schemas.microsoft.com/office/drawing/2014/main" id="{5EFB4C3E-D057-479D-B728-0141F402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Randomize at outlet cluster level, balance baseline transactions and availability, and pre-register the readout before creative goes live.</a:t>
            </a:r>
          </a:p>
        </p:txBody>
      </p:sp>
    </p:spTree>
    <p:extLst>
      <p:ext uri="{BB962C8B-B14F-4D97-AF65-F5344CB8AC3E}">
        <p14:creationId xmlns:p14="http://schemas.microsoft.com/office/powerpoint/2010/main" val="8947913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89t95upsrwm">
            <a:extLst xmlns:a="http://schemas.openxmlformats.org/drawingml/2006/main">
              <a:ext uri="{FF2B5EF4-FFF2-40B4-BE49-F238E27FC236}">
                <a16:creationId xmlns:a16="http://schemas.microsoft.com/office/drawing/2014/main" id="{CC036180-7C7C-4915-9049-ADC3B51E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93jnvjaenp">
            <a:extLst xmlns:a="http://schemas.openxmlformats.org/drawingml/2006/main">
              <a:ext uri="{FF2B5EF4-FFF2-40B4-BE49-F238E27FC236}">
                <a16:creationId xmlns:a16="http://schemas.microsoft.com/office/drawing/2014/main" id="{FC09D400-283C-4D65-8E75-5356F6E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Judge the pilot on transactions and repeat</a:t>
            </a:r>
          </a:p>
        </p:txBody>
      </p:sp>
      <p:sp>
        <p:nvSpPr>
          <p:cNvPr id="3" name="text-fn9yknxt2jn">
            <a:extLst xmlns:a="http://schemas.openxmlformats.org/drawingml/2006/main">
              <a:ext uri="{FF2B5EF4-FFF2-40B4-BE49-F238E27FC236}">
                <a16:creationId xmlns:a16="http://schemas.microsoft.com/office/drawing/2014/main" id="{145EB7B4-FEB2-498A-92C1-7606A493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79EAB-389B-4544-B85D-8C26B3C8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wj90emyzqfs">
            <a:extLst xmlns:a="http://schemas.openxmlformats.org/drawingml/2006/main">
              <a:ext uri="{FF2B5EF4-FFF2-40B4-BE49-F238E27FC236}">
                <a16:creationId xmlns:a16="http://schemas.microsoft.com/office/drawing/2014/main" id="{E5354D5E-75B5-41D5-B732-DB25D729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Primary metric</a:t>
            </a:r>
          </a:p>
        </p:txBody>
      </p:sp>
      <p:sp>
        <p:nvSpPr>
          <p:cNvPr id="6" name="text-pt78w0x5js">
            <a:extLst xmlns:a="http://schemas.openxmlformats.org/drawingml/2006/main">
              <a:ext uri="{FF2B5EF4-FFF2-40B4-BE49-F238E27FC236}">
                <a16:creationId xmlns:a16="http://schemas.microsoft.com/office/drawing/2014/main" id="{E4C6C3A7-100F-4388-8F62-BD433FD7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Incremental transactions per eligible outlet</a:t>
            </a:r>
          </a:p>
        </p:txBody>
      </p:sp>
      <p:sp>
        <p:nvSpPr>
          <p:cNvPr id="7" name="text-gnttm6w48jm">
            <a:extLst xmlns:a="http://schemas.openxmlformats.org/drawingml/2006/main">
              <a:ext uri="{FF2B5EF4-FFF2-40B4-BE49-F238E27FC236}">
                <a16:creationId xmlns:a16="http://schemas.microsoft.com/office/drawing/2014/main" id="{7BEC57D8-D118-4ED8-B23A-808C81BD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3905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Compared with the balanced control group over the agreed test window</a:t>
            </a:r>
          </a:p>
        </p:txBody>
      </p:sp>
      <p:sp>
        <p:nvSpPr>
          <p:cNvPr id="8" name="text-50387vwnehs">
            <a:extLst xmlns:a="http://schemas.openxmlformats.org/drawingml/2006/main">
              <a:ext uri="{FF2B5EF4-FFF2-40B4-BE49-F238E27FC236}">
                <a16:creationId xmlns:a16="http://schemas.microsoft.com/office/drawing/2014/main" id="{90F7B419-3693-476D-99FA-BC4781B3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95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30-day repeat</a:t>
            </a:r>
          </a:p>
        </p:txBody>
      </p:sp>
      <p:sp>
        <p:nvSpPr>
          <p:cNvPr id="9" name="text-a8c6u0lgax">
            <a:extLst xmlns:a="http://schemas.openxmlformats.org/drawingml/2006/main">
              <a:ext uri="{FF2B5EF4-FFF2-40B4-BE49-F238E27FC236}">
                <a16:creationId xmlns:a16="http://schemas.microsoft.com/office/drawing/2014/main" id="{2F7BA751-5B7A-4933-A883-1E7BACAA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954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the second occasion happen?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019800" y="22764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1" name="text-8r50ij5y44n">
            <a:extLst xmlns:a="http://schemas.openxmlformats.org/drawingml/2006/main">
              <a:ext uri="{FF2B5EF4-FFF2-40B4-BE49-F238E27FC236}">
                <a16:creationId xmlns:a16="http://schemas.microsoft.com/office/drawing/2014/main" id="{2BB2751C-3ACB-43E1-82EC-DB80C667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14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Gross margin after activation</a:t>
            </a:r>
          </a:p>
        </p:txBody>
      </p:sp>
      <p:sp>
        <p:nvSpPr>
          <p:cNvPr id="12" name="text-i0dh51kas3g">
            <a:extLst xmlns:a="http://schemas.openxmlformats.org/drawingml/2006/main">
              <a:ext uri="{FF2B5EF4-FFF2-40B4-BE49-F238E27FC236}">
                <a16:creationId xmlns:a16="http://schemas.microsoft.com/office/drawing/2014/main" id="{9D843777-B4FD-4957-AD9D-189A3D3E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146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the lift pay for the treatment?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6019800" y="309562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4" name="text-3znviubmcw1">
            <a:extLst xmlns:a="http://schemas.openxmlformats.org/drawingml/2006/main">
              <a:ext uri="{FF2B5EF4-FFF2-40B4-BE49-F238E27FC236}">
                <a16:creationId xmlns:a16="http://schemas.microsoft.com/office/drawing/2014/main" id="{A6192C65-A2DE-4B97-9CE7-52096570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33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Stock availability</a:t>
            </a:r>
          </a:p>
        </p:txBody>
      </p:sp>
      <p:sp>
        <p:nvSpPr>
          <p:cNvPr id="15" name="text-c0i7k9vriml">
            <a:extLst xmlns:a="http://schemas.openxmlformats.org/drawingml/2006/main">
              <a:ext uri="{FF2B5EF4-FFF2-40B4-BE49-F238E27FC236}">
                <a16:creationId xmlns:a16="http://schemas.microsoft.com/office/drawing/2014/main" id="{A4BFB6EF-CE5A-45CD-B843-CC72FDCC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Could the outlet execute the idea?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6019800" y="39147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17" name="text-g3gz2r1k1bt">
            <a:extLst xmlns:a="http://schemas.openxmlformats.org/drawingml/2006/main">
              <a:ext uri="{FF2B5EF4-FFF2-40B4-BE49-F238E27FC236}">
                <a16:creationId xmlns:a16="http://schemas.microsoft.com/office/drawing/2014/main" id="{F50E1C4C-862A-404C-BA37-84EFAFB1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52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Opt-in share behaviour</a:t>
            </a:r>
          </a:p>
        </p:txBody>
      </p:sp>
      <p:sp>
        <p:nvSpPr>
          <p:cNvPr id="18" name="text-k1ctcx3dq88">
            <a:extLst xmlns:a="http://schemas.openxmlformats.org/drawingml/2006/main">
              <a:ext uri="{FF2B5EF4-FFF2-40B4-BE49-F238E27FC236}">
                <a16:creationId xmlns:a16="http://schemas.microsoft.com/office/drawing/2014/main" id="{A29C86FA-538C-47AF-974F-501D6771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5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Did people use the social mechanism?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6019800" y="473392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0" name="text-xbpguy5iood">
            <a:extLst xmlns:a="http://schemas.openxmlformats.org/drawingml/2006/main">
              <a:ext uri="{FF2B5EF4-FFF2-40B4-BE49-F238E27FC236}">
                <a16:creationId xmlns:a16="http://schemas.microsoft.com/office/drawing/2014/main" id="{230037BC-CAD6-4F82-84AC-CAB33DB5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9720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Retailer compliance</a:t>
            </a:r>
          </a:p>
        </p:txBody>
      </p:sp>
      <p:sp>
        <p:nvSpPr>
          <p:cNvPr id="21" name="text-3po2a4nmtri">
            <a:extLst xmlns:a="http://schemas.openxmlformats.org/drawingml/2006/main">
              <a:ext uri="{FF2B5EF4-FFF2-40B4-BE49-F238E27FC236}">
                <a16:creationId xmlns:a16="http://schemas.microsoft.com/office/drawing/2014/main" id="{61ABADEF-AF76-42ED-B9A9-39E55EEF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720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Was the test actually delivered?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6019800" y="5553075"/>
            <a:ext cx="5429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7D7"/>
            </a:solidFill>
            <a:prstDash val="solid"/>
          </a:ln>
        </p:spPr>
      </p:cxnSp>
      <p:sp>
        <p:nvSpPr>
          <p:cNvPr id="23" name="text-lcfai5mt2h">
            <a:extLst xmlns:a="http://schemas.openxmlformats.org/drawingml/2006/main">
              <a:ext uri="{FF2B5EF4-FFF2-40B4-BE49-F238E27FC236}">
                <a16:creationId xmlns:a16="http://schemas.microsoft.com/office/drawing/2014/main" id="{DE5DEE91-F0DB-4FC8-A233-29BB9E35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scan-rate spike matters only if transactions also move.</a:t>
            </a:r>
          </a:p>
        </p:txBody>
      </p:sp>
    </p:spTree>
    <p:extLst>
      <p:ext uri="{BB962C8B-B14F-4D97-AF65-F5344CB8AC3E}">
        <p14:creationId xmlns:p14="http://schemas.microsoft.com/office/powerpoint/2010/main" val="102013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07y5xyufsy3">
            <a:extLst xmlns:a="http://schemas.openxmlformats.org/drawingml/2006/main">
              <a:ext uri="{FF2B5EF4-FFF2-40B4-BE49-F238E27FC236}">
                <a16:creationId xmlns:a16="http://schemas.microsoft.com/office/drawing/2014/main" id="{C13E2B3E-347B-40B7-8007-33E6E043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8pn7i6e053v">
            <a:extLst xmlns:a="http://schemas.openxmlformats.org/drawingml/2006/main">
              <a:ext uri="{FF2B5EF4-FFF2-40B4-BE49-F238E27FC236}">
                <a16:creationId xmlns:a16="http://schemas.microsoft.com/office/drawing/2014/main" id="{CE98AF71-83C2-4113-B7F0-802851CC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5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Availability and entry-pack economics decide whether the idea scales</a:t>
            </a:r>
          </a:p>
        </p:txBody>
      </p:sp>
      <p:sp>
        <p:nvSpPr>
          <p:cNvPr id="3" name="text-u6kpglrhk3">
            <a:extLst xmlns:a="http://schemas.openxmlformats.org/drawingml/2006/main">
              <a:ext uri="{FF2B5EF4-FFF2-40B4-BE49-F238E27FC236}">
                <a16:creationId xmlns:a16="http://schemas.microsoft.com/office/drawing/2014/main" id="{ACB2760B-B1B3-4E70-BE08-37590865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text-kakddv1x677">
            <a:extLst xmlns:a="http://schemas.openxmlformats.org/drawingml/2006/main">
              <a:ext uri="{FF2B5EF4-FFF2-40B4-BE49-F238E27FC236}">
                <a16:creationId xmlns:a16="http://schemas.microsoft.com/office/drawing/2014/main" id="{AA6AA7B6-B7AE-40CB-991B-3EB61C02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$47.9B</a:t>
            </a:r>
          </a:p>
        </p:txBody>
      </p:sp>
      <p:sp>
        <p:nvSpPr>
          <p:cNvPr id="5" name="text-qjje4t4m6">
            <a:extLst xmlns:a="http://schemas.openxmlformats.org/drawingml/2006/main">
              <a:ext uri="{FF2B5EF4-FFF2-40B4-BE49-F238E27FC236}">
                <a16:creationId xmlns:a16="http://schemas.microsoft.com/office/drawing/2014/main" id="{16BD3ED4-F571-4295-ADF1-0E9BACBE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2025 net operating revenue</a:t>
            </a:r>
          </a:p>
        </p:txBody>
      </p:sp>
      <p:sp>
        <p:nvSpPr>
          <p:cNvPr id="6" name="text-sypuy31dthm">
            <a:extLst xmlns:a="http://schemas.openxmlformats.org/drawingml/2006/main">
              <a:ext uri="{FF2B5EF4-FFF2-40B4-BE49-F238E27FC236}">
                <a16:creationId xmlns:a16="http://schemas.microsoft.com/office/drawing/2014/main" id="{7EB07B85-AD9F-437E-96B2-B23EDCFC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$5.4B</a:t>
            </a:r>
          </a:p>
        </p:txBody>
      </p:sp>
      <p:sp>
        <p:nvSpPr>
          <p:cNvPr id="7" name="text-c36ncm7vo66">
            <a:extLst xmlns:a="http://schemas.openxmlformats.org/drawingml/2006/main">
              <a:ext uri="{FF2B5EF4-FFF2-40B4-BE49-F238E27FC236}">
                <a16:creationId xmlns:a16="http://schemas.microsoft.com/office/drawing/2014/main" id="{3F037DAF-8D70-497F-A452-DBDDD94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2025 advertising expense</a:t>
            </a:r>
          </a:p>
        </p:txBody>
      </p:sp>
      <p:sp>
        <p:nvSpPr>
          <p:cNvPr id="8" name="text-b09azmmzr2">
            <a:extLst xmlns:a="http://schemas.openxmlformats.org/drawingml/2006/main">
              <a:ext uri="{FF2B5EF4-FFF2-40B4-BE49-F238E27FC236}">
                <a16:creationId xmlns:a16="http://schemas.microsoft.com/office/drawing/2014/main" id="{90829DC3-F8B3-48AD-BE33-9D501D45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130M+</a:t>
            </a:r>
          </a:p>
        </p:txBody>
      </p:sp>
      <p:sp>
        <p:nvSpPr>
          <p:cNvPr id="9" name="text-t3vrvwtowxf">
            <a:extLst xmlns:a="http://schemas.openxmlformats.org/drawingml/2006/main">
              <a:ext uri="{FF2B5EF4-FFF2-40B4-BE49-F238E27FC236}">
                <a16:creationId xmlns:a16="http://schemas.microsoft.com/office/drawing/2014/main" id="{2765F657-4159-4E01-80D2-A51EB669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juice transactions added year to date through lower-cost single-serve offers in markets including India and Latin America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14350" y="3524250"/>
            <a:ext cx="1095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cxnSp>
      <p:sp>
        <p:nvSpPr>
          <p:cNvPr id="11" name="text-s8dyqmnqyg">
            <a:extLst xmlns:a="http://schemas.openxmlformats.org/drawingml/2006/main">
              <a:ext uri="{FF2B5EF4-FFF2-40B4-BE49-F238E27FC236}">
                <a16:creationId xmlns:a16="http://schemas.microsoft.com/office/drawing/2014/main" id="{313CFC47-DDB6-423A-BE83-9545FE28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Commercial rule</a:t>
            </a:r>
          </a:p>
        </p:txBody>
      </p:sp>
      <p:sp>
        <p:nvSpPr>
          <p:cNvPr id="12" name="text-jo6poqi7yk">
            <a:extLst xmlns:a="http://schemas.openxmlformats.org/drawingml/2006/main">
              <a:ext uri="{FF2B5EF4-FFF2-40B4-BE49-F238E27FC236}">
                <a16:creationId xmlns:a16="http://schemas.microsoft.com/office/drawing/2014/main" id="{4D20B449-62F9-4F32-89BC-8D4AD5EA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10572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Choose the package, price point and message together using outlet economics. The target pack must be available and affordable in the chosen moment.</a:t>
            </a:r>
          </a:p>
        </p:txBody>
      </p:sp>
      <p:sp>
        <p:nvSpPr>
          <p:cNvPr id="13" name="text-xzda67ou27e">
            <a:extLst xmlns:a="http://schemas.openxmlformats.org/drawingml/2006/main">
              <a:ext uri="{FF2B5EF4-FFF2-40B4-BE49-F238E27FC236}">
                <a16:creationId xmlns:a16="http://schemas.microsoft.com/office/drawing/2014/main" id="{FCC4C462-9331-4EAC-B2B4-54610BF3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The 130 million figure covers juice drinks across several markets. It is a revenue-growth-management signal for pack choice, not a pilot forecast.</a:t>
            </a:r>
          </a:p>
        </p:txBody>
      </p:sp>
    </p:spTree>
    <p:extLst>
      <p:ext uri="{BB962C8B-B14F-4D97-AF65-F5344CB8AC3E}">
        <p14:creationId xmlns:p14="http://schemas.microsoft.com/office/powerpoint/2010/main" val="785009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o1u85e43my">
            <a:extLst xmlns:a="http://schemas.openxmlformats.org/drawingml/2006/main">
              <a:ext uri="{FF2B5EF4-FFF2-40B4-BE49-F238E27FC236}">
                <a16:creationId xmlns:a16="http://schemas.microsoft.com/office/drawing/2014/main" id="{18F7E646-9838-4FFA-B48B-9C48E324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COCA-COLA INDIA CONSUMER GROWTH CASE</a:t>
            </a:r>
          </a:p>
        </p:txBody>
      </p:sp>
      <p:sp>
        <p:nvSpPr>
          <p:cNvPr id="2" name="text-w15q1idtb1">
            <a:extLst xmlns:a="http://schemas.openxmlformats.org/drawingml/2006/main">
              <a:ext uri="{FF2B5EF4-FFF2-40B4-BE49-F238E27FC236}">
                <a16:creationId xmlns:a16="http://schemas.microsoft.com/office/drawing/2014/main" id="{44316FFC-B84E-4EA6-AB81-74767081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Ninety days is enough to accept, refine or stop</a:t>
            </a:r>
          </a:p>
        </p:txBody>
      </p:sp>
      <p:sp>
        <p:nvSpPr>
          <p:cNvPr id="3" name="text-h1azecz2i84">
            <a:extLst xmlns:a="http://schemas.openxmlformats.org/drawingml/2006/main">
              <a:ext uri="{FF2B5EF4-FFF2-40B4-BE49-F238E27FC236}">
                <a16:creationId xmlns:a16="http://schemas.microsoft.com/office/drawing/2014/main" id="{4B37E4C4-8914-479E-B389-001A47AA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646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646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57250" y="3067050"/>
            <a:ext cx="9906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957356-131F-4847-AF38-F6A57DE9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tcvgpy1gr6s">
            <a:extLst xmlns:a="http://schemas.openxmlformats.org/drawingml/2006/main">
              <a:ext uri="{FF2B5EF4-FFF2-40B4-BE49-F238E27FC236}">
                <a16:creationId xmlns:a16="http://schemas.microsoft.com/office/drawing/2014/main" id="{8626E5ED-0E8B-457D-9413-C0DDA4B8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1 TO 30</a:t>
            </a:r>
          </a:p>
        </p:txBody>
      </p:sp>
      <p:sp>
        <p:nvSpPr>
          <p:cNvPr id="7" name="text-i1ax4yfq5">
            <a:extLst xmlns:a="http://schemas.openxmlformats.org/drawingml/2006/main">
              <a:ext uri="{FF2B5EF4-FFF2-40B4-BE49-F238E27FC236}">
                <a16:creationId xmlns:a16="http://schemas.microsoft.com/office/drawing/2014/main" id="{52CB694D-BEC5-4DA6-B9E7-8A6467A8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Set the test</a:t>
            </a:r>
          </a:p>
        </p:txBody>
      </p:sp>
      <p:sp>
        <p:nvSpPr>
          <p:cNvPr id="8" name="text-l28zibtgxt">
            <a:extLst xmlns:a="http://schemas.openxmlformats.org/drawingml/2006/main">
              <a:ext uri="{FF2B5EF4-FFF2-40B4-BE49-F238E27FC236}">
                <a16:creationId xmlns:a16="http://schemas.microsoft.com/office/drawing/2014/main" id="{DC9D0615-0640-464E-9EBF-607D40BB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Choose occasion and outlets. Validate names, cultural fit, packs, economics and data collection.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B0E1F-A20D-493B-ABF4-E9280AA8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1r5hqcycdd7">
            <a:extLst xmlns:a="http://schemas.openxmlformats.org/drawingml/2006/main">
              <a:ext uri="{FF2B5EF4-FFF2-40B4-BE49-F238E27FC236}">
                <a16:creationId xmlns:a16="http://schemas.microsoft.com/office/drawing/2014/main" id="{057CCAA9-385B-49C5-A1F6-FF2D379C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31 TO 60</a:t>
            </a:r>
          </a:p>
        </p:txBody>
      </p:sp>
      <p:sp>
        <p:nvSpPr>
          <p:cNvPr id="11" name="text-gs8ttugmb7b">
            <a:extLst xmlns:a="http://schemas.openxmlformats.org/drawingml/2006/main">
              <a:ext uri="{FF2B5EF4-FFF2-40B4-BE49-F238E27FC236}">
                <a16:creationId xmlns:a16="http://schemas.microsoft.com/office/drawing/2014/main" id="{505685CD-6BB9-4AC1-9072-6D0E3E2A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the field test</a:t>
            </a:r>
          </a:p>
        </p:txBody>
      </p:sp>
      <p:sp>
        <p:nvSpPr>
          <p:cNvPr id="12" name="text-bocovew3fbc">
            <a:extLst xmlns:a="http://schemas.openxmlformats.org/drawingml/2006/main">
              <a:ext uri="{FF2B5EF4-FFF2-40B4-BE49-F238E27FC236}">
                <a16:creationId xmlns:a16="http://schemas.microsoft.com/office/drawing/2014/main" id="{6D4B7BE6-2B98-4A30-8300-E591075A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Launch balanced cells. Monitor availability, compliance and privacy issues before reading uplift.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27E79-B450-45A8-B18C-F88C931F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146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41E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a4i421uzzv">
            <a:extLst xmlns:a="http://schemas.openxmlformats.org/drawingml/2006/main">
              <a:ext uri="{FF2B5EF4-FFF2-40B4-BE49-F238E27FC236}">
                <a16:creationId xmlns:a16="http://schemas.microsoft.com/office/drawing/2014/main" id="{C558CE2C-DC45-4A53-9872-BB4E5A65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5262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41E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1E2B"/>
                </a:solidFill>
                <a:latin typeface="Arial"/>
                <a:ea typeface="Arial"/>
                <a:cs typeface="Arial"/>
              </a:rPr>
              <a:t>DAYS 61 TO 90</a:t>
            </a:r>
          </a:p>
        </p:txBody>
      </p:sp>
      <p:sp>
        <p:nvSpPr>
          <p:cNvPr id="15" name="text-okm71db7u4e">
            <a:extLst xmlns:a="http://schemas.openxmlformats.org/drawingml/2006/main">
              <a:ext uri="{FF2B5EF4-FFF2-40B4-BE49-F238E27FC236}">
                <a16:creationId xmlns:a16="http://schemas.microsoft.com/office/drawing/2014/main" id="{6963B3ED-953C-456D-962D-A4BA5A0B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Review the results</a:t>
            </a:r>
          </a:p>
        </p:txBody>
      </p:sp>
      <p:sp>
        <p:nvSpPr>
          <p:cNvPr id="16" name="text-0qc5t5c3mogg">
            <a:extLst xmlns:a="http://schemas.openxmlformats.org/drawingml/2006/main">
              <a:ext uri="{FF2B5EF4-FFF2-40B4-BE49-F238E27FC236}">
                <a16:creationId xmlns:a16="http://schemas.microsoft.com/office/drawing/2014/main" id="{D5EC4082-F548-4FF3-9A86-38DBF174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4330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Compare transactions, repeat and margin. Scale the mechanism only if the second occasion moves.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E29653-7C00-4609-9950-D6047E6C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3n1lage8rve">
            <a:extLst xmlns:a="http://schemas.openxmlformats.org/drawingml/2006/main">
              <a:ext uri="{FF2B5EF4-FFF2-40B4-BE49-F238E27FC236}">
                <a16:creationId xmlns:a16="http://schemas.microsoft.com/office/drawing/2014/main" id="{22EECFB4-2104-4AB8-9DE7-D6F6E303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readout to scale, revise or stop the treatment.</a:t>
            </a:r>
          </a:p>
        </p:txBody>
      </p:sp>
    </p:spTree>
    <p:extLst>
      <p:ext uri="{BB962C8B-B14F-4D97-AF65-F5344CB8AC3E}">
        <p14:creationId xmlns:p14="http://schemas.microsoft.com/office/powerpoint/2010/main" val="1669885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4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828hxhxomcd">
            <a:extLst xmlns:a="http://schemas.openxmlformats.org/drawingml/2006/main">
              <a:ext uri="{FF2B5EF4-FFF2-40B4-BE49-F238E27FC236}">
                <a16:creationId xmlns:a16="http://schemas.microsoft.com/office/drawing/2014/main" id="{7E510784-B585-46EA-8FFA-54F99D64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2" name="text-lq01gddf6le">
            <a:extLst xmlns:a="http://schemas.openxmlformats.org/drawingml/2006/main">
              <a:ext uri="{FF2B5EF4-FFF2-40B4-BE49-F238E27FC236}">
                <a16:creationId xmlns:a16="http://schemas.microsoft.com/office/drawing/2014/main" id="{7EB74461-9B3A-485F-895D-7CEB0AC4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952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374"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one occasion, then scale on repeat and margin</a:t>
            </a:r>
          </a:p>
        </p:txBody>
      </p:sp>
      <p:sp>
        <p:nvSpPr>
          <p:cNvPr id="3" name="text-0l9yfiqn3tol">
            <a:extLst xmlns:a="http://schemas.openxmlformats.org/drawingml/2006/main">
              <a:ext uri="{FF2B5EF4-FFF2-40B4-BE49-F238E27FC236}">
                <a16:creationId xmlns:a16="http://schemas.microsoft.com/office/drawing/2014/main" id="{79E8A5CF-E4E6-493B-B254-2475CCDC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8286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 Start with a real local 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 Use personalization to make the pack socially relevant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 Scale only when transactions, repeat and margin move together</a:t>
            </a:r>
          </a:p>
        </p:txBody>
      </p:sp>
      <p:cxnSp>
        <p:nvCxnSpPr>
          <p:cNvPr id="9" name=""/>
          <p:cNvCxnSpPr/>
          <p:nvPr/>
        </p:nvCxnSpPr>
        <p:spPr>
          <a:xfrm xmlns:a="http://schemas.openxmlformats.org/drawingml/2006/main">
            <a:off x="571500" y="5619750"/>
            <a:ext cx="10668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FFFFFF"/>
            </a:solidFill>
            <a:prstDash val="solid"/>
          </a:ln>
        </p:spPr>
      </p:cxnSp>
      <p:sp>
        <p:nvSpPr>
          <p:cNvPr id="5" name="text-7w5uhxsf7fl">
            <a:extLst xmlns:a="http://schemas.openxmlformats.org/drawingml/2006/main">
              <a:ext uri="{FF2B5EF4-FFF2-40B4-BE49-F238E27FC236}">
                <a16:creationId xmlns:a16="http://schemas.microsoft.com/office/drawing/2014/main" id="{2BD6EE81-E176-4DD4-8915-77CA7038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Keshav Kapoor | Independent public-source case | 2026</a:t>
            </a:r>
          </a:p>
        </p:txBody>
      </p:sp>
    </p:spTree>
    <p:extLst>
      <p:ext uri="{BB962C8B-B14F-4D97-AF65-F5344CB8AC3E}">
        <p14:creationId xmlns:p14="http://schemas.microsoft.com/office/powerpoint/2010/main" val="633181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2026-08-30T10:33:59.2420000Z</dcterms:created>
  <dcterms:modified xsi:type="dcterms:W3CDTF">2026-08-30T10:33:59.2420000Z</dcterms:modified>
</coreProperties>
</file>