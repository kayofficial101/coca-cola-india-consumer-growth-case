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23d5f604cd4221" /><Relationship Type="http://schemas.openxmlformats.org/officeDocument/2006/relationships/extended-properties" Target="/docProps/app.xml" Id="Rf3175aa06b2c4981" /><Relationship Type="http://schemas.openxmlformats.org/officeDocument/2006/relationships/officeDocument" Target="/ppt/presentation.xml" Id="R8c00a7fc1cbd4d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39f8a941b4ebb"/>
  </p:sldMasterIdLst>
  <p:notesMasterIdLst>
    <p:notesMasterId xmlns:r="http://schemas.openxmlformats.org/officeDocument/2006/relationships" r:id="R64d25aff86c442f3"/>
  </p:notesMasterIdLst>
  <p:sldIdLst>
    <p:sldId xmlns:r="http://schemas.openxmlformats.org/officeDocument/2006/relationships" id="256" r:id="Rb754dc8fe5df46d7"/>
    <p:sldId xmlns:r="http://schemas.openxmlformats.org/officeDocument/2006/relationships" id="257" r:id="Rda419850d1d24d06"/>
    <p:sldId xmlns:r="http://schemas.openxmlformats.org/officeDocument/2006/relationships" id="258" r:id="R01da1fcdab9c4d1f"/>
    <p:sldId xmlns:r="http://schemas.openxmlformats.org/officeDocument/2006/relationships" id="259" r:id="R082612da790a402e"/>
    <p:sldId xmlns:r="http://schemas.openxmlformats.org/officeDocument/2006/relationships" id="260" r:id="R64c98cab4dcd4c43"/>
    <p:sldId xmlns:r="http://schemas.openxmlformats.org/officeDocument/2006/relationships" id="261" r:id="R386d1566f59b46c0"/>
    <p:sldId xmlns:r="http://schemas.openxmlformats.org/officeDocument/2006/relationships" id="262" r:id="R3b8260c06b87490a"/>
    <p:sldId xmlns:r="http://schemas.openxmlformats.org/officeDocument/2006/relationships" id="263" r:id="Raf981dcd1e414e41"/>
    <p:sldId xmlns:r="http://schemas.openxmlformats.org/officeDocument/2006/relationships" id="264" r:id="R86c70b99347d4da2"/>
    <p:sldId xmlns:r="http://schemas.openxmlformats.org/officeDocument/2006/relationships" id="265" r:id="Rb4ec1688338a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88d73cc6f4836" /><Relationship Type="http://schemas.openxmlformats.org/officeDocument/2006/relationships/slideMaster" Target="/ppt/slideMasters/slideMaster1.xml" Id="R49139f8a941b4ebb" /><Relationship Type="http://schemas.openxmlformats.org/officeDocument/2006/relationships/notesMaster" Target="/ppt/notesMasters/notesMaster1.xml" Id="R64d25aff86c442f3" /><Relationship Type="http://schemas.openxmlformats.org/officeDocument/2006/relationships/presProps" Target="/ppt/presProps.xml" Id="R13f4e70343c1400c" /><Relationship Type="http://schemas.openxmlformats.org/officeDocument/2006/relationships/tableStyles" Target="/ppt/tableStyles.xml" Id="R2681d022f73e4231" /><Relationship Type="http://schemas.openxmlformats.org/officeDocument/2006/relationships/slide" Target="/ppt/slides/slide1.xml" Id="Rb754dc8fe5df46d7" /><Relationship Type="http://schemas.openxmlformats.org/officeDocument/2006/relationships/slide" Target="/ppt/slides/slide2.xml" Id="Rda419850d1d24d06" /><Relationship Type="http://schemas.openxmlformats.org/officeDocument/2006/relationships/slide" Target="/ppt/slides/slide3.xml" Id="R01da1fcdab9c4d1f" /><Relationship Type="http://schemas.openxmlformats.org/officeDocument/2006/relationships/slide" Target="/ppt/slides/slide4.xml" Id="R082612da790a402e" /><Relationship Type="http://schemas.openxmlformats.org/officeDocument/2006/relationships/slide" Target="/ppt/slides/slide5.xml" Id="R64c98cab4dcd4c43" /><Relationship Type="http://schemas.openxmlformats.org/officeDocument/2006/relationships/slide" Target="/ppt/slides/slide6.xml" Id="R386d1566f59b46c0" /><Relationship Type="http://schemas.openxmlformats.org/officeDocument/2006/relationships/slide" Target="/ppt/slides/slide7.xml" Id="R3b8260c06b87490a" /><Relationship Type="http://schemas.openxmlformats.org/officeDocument/2006/relationships/slide" Target="/ppt/slides/slide8.xml" Id="Raf981dcd1e414e41" /><Relationship Type="http://schemas.openxmlformats.org/officeDocument/2006/relationships/slide" Target="/ppt/slides/slide9.xml" Id="R86c70b99347d4da2" /><Relationship Type="http://schemas.openxmlformats.org/officeDocument/2006/relationships/slide" Target="/ppt/slides/slide10.xml" Id="Rb4ec1688338a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7ebe857e7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d414777454a0e" /><Relationship Type="http://schemas.openxmlformats.org/officeDocument/2006/relationships/notesMaster" Target="/ppt/notesMasters/notesMaster1.xml" Id="R75a9cd9253d8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37500ac12c4c61" /><Relationship Type="http://schemas.openxmlformats.org/officeDocument/2006/relationships/notesMaster" Target="/ppt/notesMasters/notesMaster1.xml" Id="Rc9801dbce988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1e5aeb86f4784" /><Relationship Type="http://schemas.openxmlformats.org/officeDocument/2006/relationships/notesMaster" Target="/ppt/notesMasters/notesMaster1.xml" Id="R2b98208cdb70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7a795aaf594be3" /><Relationship Type="http://schemas.openxmlformats.org/officeDocument/2006/relationships/notesMaster" Target="/ppt/notesMasters/notesMaster1.xml" Id="Rbaf92edaf68c48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7282d867b1457a" /><Relationship Type="http://schemas.openxmlformats.org/officeDocument/2006/relationships/notesMaster" Target="/ppt/notesMasters/notesMaster1.xml" Id="R2c1a7b95cad946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22289659d46d4" /><Relationship Type="http://schemas.openxmlformats.org/officeDocument/2006/relationships/notesMaster" Target="/ppt/notesMasters/notesMaster1.xml" Id="Rdb3235cf7740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dde1d59e44b79" /><Relationship Type="http://schemas.openxmlformats.org/officeDocument/2006/relationships/notesMaster" Target="/ppt/notesMasters/notesMaster1.xml" Id="R204925e7caf845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b38c19676247c4" /><Relationship Type="http://schemas.openxmlformats.org/officeDocument/2006/relationships/notesMaster" Target="/ppt/notesMasters/notesMaster1.xml" Id="Rdf7c36eec33d47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0f2d723ce24dcf" /><Relationship Type="http://schemas.openxmlformats.org/officeDocument/2006/relationships/notesMaster" Target="/ppt/notesMasters/notesMaster1.xml" Id="R56ee8b2931a5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6cbbd9a9934940" /><Relationship Type="http://schemas.openxmlformats.org/officeDocument/2006/relationships/notesMaster" Target="/ppt/notesMasters/notesMaster1.xml" Id="R92eed07e862e4d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https://www.coca-colacompany.com/media-center/coca-cola-reports-first-quarter-2025-results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portfolio case. I did not work for Coca-Cola.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https://www.coca-colacompany.com/media-center/iconic-share-a-coke-is-back-for-a-new-generation</a:t>
            </a:r>
          </a:p>
          <a:p xmlns:a="http://schemas.openxmlformats.org/drawingml/2006/main">
            <a:r>
              <a:t>https://www.coca-colacompany.com/media-center/coca-cola-reports-first-quarter-2025-results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https://www.coca-colacompany.com/media-center/coca-cola-reports-first-quarter-2025-results</a:t>
            </a:r>
          </a:p>
          <a:p xmlns:a="http://schemas.openxmlformats.org/drawingml/2006/main">
            <a:r>
              <a:t>https://www.sec.gov/Archives/edgar/data/21344/000162828026010047/ko-20251231.htm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interpretation is the author's inference from two differently scoped reporting periods.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https://doi.org/10.1108/JSTP-08-2019-0181</a:t>
            </a:r>
          </a:p>
          <a:p xmlns:a="http://schemas.openxmlformats.org/drawingml/2006/main">
            <a:r>
              <a:t>https://experts.umn.edu/en/publications/self-reference-effect-and-consumer-brands/</a:t>
            </a:r>
          </a:p>
          <a:p xmlns:a="http://schemas.openxmlformats.org/drawingml/2006/main">
            <a:r>
              <a:t>https://www.coca-colacompany.com/media-center/iconic-share-a-coke-is-back-for-a-new-generation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https://www.coca-colacompany.com/media-center/iconic-share-a-coke-is-back-for-a-new-generation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five-stage loop is the author's proposed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https://www.coca-colacompany.com/media-center/iconic-share-a-coke-is-back-for-a-new-generation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pilot design is the author's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metric hierarchy is the author's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https://www.sec.gov/Archives/edgar/data/21344/000162828026010047/ko-20251231.htm</a:t>
            </a:r>
          </a:p>
          <a:p xmlns:a="http://schemas.openxmlformats.org/drawingml/2006/main">
            <a:r>
              <a:t>https://www.coca-colacompany.com/content/dam/corporate/us/en/media-center/Coca-Cola-2025-Q2-Earnings-Release-Full-Release-7.22.25.pdf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90-day plan is the author's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https://www.coca-colacompany.com/media-center/coca-cola-reports-first-quarter-2025-results</a:t>
            </a:r>
          </a:p>
          <a:p xmlns:a="http://schemas.openxmlformats.org/drawingml/2006/main">
            <a:r>
              <a:t>https://www.sec.gov/Archives/edgar/data/21344/000162828026010047/ko-20251231.htm</a:t>
            </a:r>
          </a:p>
          <a:p xmlns:a="http://schemas.openxmlformats.org/drawingml/2006/main">
            <a:r>
              <a:t>https://www.coca-colacompany.com/media-center/iconic-share-a-coke-is-back-for-a-new-generation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d55d06380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474fe6a1804230" /><Relationship Type="http://schemas.openxmlformats.org/officeDocument/2006/relationships/slideLayout" Target="/ppt/slideLayouts/slideLayout1.xml" Id="R72908a26d0d84d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08a26d0d84d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bdec171af459e" /><Relationship Type="http://schemas.openxmlformats.org/officeDocument/2006/relationships/notesSlide" Target="/ppt/notesSlides/notesSlide1.xml" Id="R2f83c8ae3187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5c25e46204266" /><Relationship Type="http://schemas.openxmlformats.org/officeDocument/2006/relationships/notesSlide" Target="/ppt/notesSlides/notesSlide2.xml" Id="R3bf598f3f0f24c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9d2df898d443e" /><Relationship Type="http://schemas.openxmlformats.org/officeDocument/2006/relationships/notesSlide" Target="/ppt/notesSlides/notesSlide3.xml" Id="R0823c8abb9db41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5979682bb4bd3" /><Relationship Type="http://schemas.openxmlformats.org/officeDocument/2006/relationships/notesSlide" Target="/ppt/notesSlides/notesSlide4.xml" Id="R16ee7c5315c0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25b189f7a427e" /><Relationship Type="http://schemas.openxmlformats.org/officeDocument/2006/relationships/notesSlide" Target="/ppt/notesSlides/notesSlide5.xml" Id="Re3e96d603147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cf6692a8646ec" /><Relationship Type="http://schemas.openxmlformats.org/officeDocument/2006/relationships/notesSlide" Target="/ppt/notesSlides/notesSlide6.xml" Id="R3d18953298734d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25eafb42e4a0b" /><Relationship Type="http://schemas.openxmlformats.org/officeDocument/2006/relationships/notesSlide" Target="/ppt/notesSlides/notesSlide7.xml" Id="R98bdf0ad671f46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9c66a77f049dd" /><Relationship Type="http://schemas.openxmlformats.org/officeDocument/2006/relationships/notesSlide" Target="/ppt/notesSlides/notesSlide8.xml" Id="Rc0965c1e8104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ce7616c504010" /><Relationship Type="http://schemas.openxmlformats.org/officeDocument/2006/relationships/notesSlide" Target="/ppt/notesSlides/notesSlide9.xml" Id="R68749f5f829341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ff5a6b4934ac4" /><Relationship Type="http://schemas.openxmlformats.org/officeDocument/2006/relationships/notesSlide" Target="/ppt/notesSlides/notesSlide10.xml" Id="R0216b26ac15443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D6A30-A630-4935-8E02-C3674039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jfdwjcwss7c">
            <a:extLst xmlns:a="http://schemas.openxmlformats.org/drawingml/2006/main">
              <a:ext uri="{FF2B5EF4-FFF2-40B4-BE49-F238E27FC236}">
                <a16:creationId xmlns:a16="http://schemas.microsoft.com/office/drawing/2014/main" id="{A7F8F52E-1139-45C7-95D5-71E8D14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INDEPENDENT PUBLIC-SOURCE CASE</a:t>
            </a:r>
          </a:p>
        </p:txBody>
      </p:sp>
      <p:sp>
        <p:nvSpPr>
          <p:cNvPr id="3" name="text-uk98bvx7rs">
            <a:extLst xmlns:a="http://schemas.openxmlformats.org/drawingml/2006/main">
              <a:ext uri="{FF2B5EF4-FFF2-40B4-BE49-F238E27FC236}">
                <a16:creationId xmlns:a16="http://schemas.microsoft.com/office/drawing/2014/main" id="{B40997F5-4A7E-4443-9D9B-5B288C1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Turning big moments into repeatable Coca-Cola occasions in India</a:t>
            </a:r>
          </a:p>
        </p:txBody>
      </p:sp>
      <p:sp>
        <p:nvSpPr>
          <p:cNvPr id="4" name="text-e1w0idvszp">
            <a:extLst xmlns:a="http://schemas.openxmlformats.org/drawingml/2006/main">
              <a:ext uri="{FF2B5EF4-FFF2-40B4-BE49-F238E27FC236}">
                <a16:creationId xmlns:a16="http://schemas.microsoft.com/office/drawing/2014/main" id="{51990078-731B-4E4C-B4E9-0A011946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A consumer-growth strategy built around personalization, affordability and measurable repeat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84E89-5ED9-4A66-BED7-C60384C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fz2wyyazoyo">
            <a:extLst xmlns:a="http://schemas.openxmlformats.org/drawingml/2006/main">
              <a:ext uri="{FF2B5EF4-FFF2-40B4-BE49-F238E27FC236}">
                <a16:creationId xmlns:a16="http://schemas.microsoft.com/office/drawing/2014/main" id="{1F7F00F0-83DE-47E2-9230-34D0093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180M+</a:t>
            </a:r>
          </a:p>
        </p:txBody>
      </p:sp>
      <p:sp>
        <p:nvSpPr>
          <p:cNvPr id="7" name="text-yyy582kzvpb">
            <a:extLst xmlns:a="http://schemas.openxmlformats.org/drawingml/2006/main">
              <a:ext uri="{FF2B5EF4-FFF2-40B4-BE49-F238E27FC236}">
                <a16:creationId xmlns:a16="http://schemas.microsoft.com/office/drawing/2014/main" id="{4A1A7EDB-7AD7-4670-94CC-1DD2C327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servings reported at the 2025 Maha Kumbh activation</a:t>
            </a:r>
          </a:p>
        </p:txBody>
      </p:sp>
      <p:sp>
        <p:nvSpPr>
          <p:cNvPr id="8" name="text-nyhdcccdgof">
            <a:extLst xmlns:a="http://schemas.openxmlformats.org/drawingml/2006/main">
              <a:ext uri="{FF2B5EF4-FFF2-40B4-BE49-F238E27FC236}">
                <a16:creationId xmlns:a16="http://schemas.microsoft.com/office/drawing/2014/main" id="{16CDC057-F4E7-4584-8AB8-DEA97EBD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Keshav Kapoor  |  2026</a:t>
            </a:r>
          </a:p>
        </p:txBody>
      </p:sp>
    </p:spTree>
    <p:extLst>
      <p:ext uri="{BB962C8B-B14F-4D97-AF65-F5344CB8AC3E}">
        <p14:creationId xmlns:p14="http://schemas.microsoft.com/office/powerpoint/2010/main" val="186257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r4e03k506yk">
            <a:extLst xmlns:a="http://schemas.openxmlformats.org/drawingml/2006/main">
              <a:ext uri="{FF2B5EF4-FFF2-40B4-BE49-F238E27FC236}">
                <a16:creationId xmlns:a16="http://schemas.microsoft.com/office/drawing/2014/main" id="{D8ECC2B7-C2E6-4975-A71E-BC89139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dg4qld0kwke">
            <a:extLst xmlns:a="http://schemas.openxmlformats.org/drawingml/2006/main">
              <a:ext uri="{FF2B5EF4-FFF2-40B4-BE49-F238E27FC236}">
                <a16:creationId xmlns:a16="http://schemas.microsoft.com/office/drawing/2014/main" id="{E7398B81-E4E1-4E34-84F3-1EA450D7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growth opportunity is not one more campaign</a:t>
            </a:r>
          </a:p>
        </p:txBody>
      </p:sp>
      <p:sp>
        <p:nvSpPr>
          <p:cNvPr id="3" name="text-nmvpst4ow2e">
            <a:extLst xmlns:a="http://schemas.openxmlformats.org/drawingml/2006/main">
              <a:ext uri="{FF2B5EF4-FFF2-40B4-BE49-F238E27FC236}">
                <a16:creationId xmlns:a16="http://schemas.microsoft.com/office/drawing/2014/main" id="{439A6F12-8158-4CE4-8059-E1F952F8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2egdycnz9rp">
            <a:extLst xmlns:a="http://schemas.openxmlformats.org/drawingml/2006/main">
              <a:ext uri="{FF2B5EF4-FFF2-40B4-BE49-F238E27FC236}">
                <a16:creationId xmlns:a16="http://schemas.microsoft.com/office/drawing/2014/main" id="{10032236-5C17-4E64-AD88-35E263BA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It is an occasion-to-habit system.</a:t>
            </a:r>
          </a:p>
        </p:txBody>
      </p:sp>
      <p:sp>
        <p:nvSpPr>
          <p:cNvPr id="5" name="text-r24u7qe2wpg">
            <a:extLst xmlns:a="http://schemas.openxmlformats.org/drawingml/2006/main">
              <a:ext uri="{FF2B5EF4-FFF2-40B4-BE49-F238E27FC236}">
                <a16:creationId xmlns:a16="http://schemas.microsoft.com/office/drawing/2014/main" id="{13E1ECA9-9925-4D5D-95D4-1E734ABD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681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reach of a festival, campus moment or group celebration to create trial. Then give the shared drink a clear second occasion, an available pack and a reason to return.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4459F-046A-4004-A41B-A421F91C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3429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syyvrfgocr">
            <a:extLst xmlns:a="http://schemas.openxmlformats.org/drawingml/2006/main">
              <a:ext uri="{FF2B5EF4-FFF2-40B4-BE49-F238E27FC236}">
                <a16:creationId xmlns:a16="http://schemas.microsoft.com/office/drawing/2014/main" id="{2A4FF22C-777C-4C13-9DA9-E1C95BF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logic</a:t>
            </a:r>
          </a:p>
        </p:txBody>
      </p:sp>
      <p:sp>
        <p:nvSpPr>
          <p:cNvPr id="8" name="text-re8pz7uuevj">
            <a:extLst xmlns:a="http://schemas.openxmlformats.org/drawingml/2006/main">
              <a:ext uri="{FF2B5EF4-FFF2-40B4-BE49-F238E27FC236}">
                <a16:creationId xmlns:a16="http://schemas.microsoft.com/office/drawing/2014/main" id="{002498BA-D2A9-4776-A1AB-D478CA41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3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  Win a real occasion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 Make the pack personally relevant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 Prompt a second group moment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 Measure transactions and repeat</a:t>
            </a:r>
          </a:p>
        </p:txBody>
      </p:sp>
      <p:sp>
        <p:nvSpPr>
          <p:cNvPr id="9" name="text-hseokiw8o3a">
            <a:extLst xmlns:a="http://schemas.openxmlformats.org/drawingml/2006/main">
              <a:ext uri="{FF2B5EF4-FFF2-40B4-BE49-F238E27FC236}">
                <a16:creationId xmlns:a16="http://schemas.microsoft.com/office/drawing/2014/main" id="{A59D67F0-B3BE-4C84-8B51-BDCE062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This is a testable growth loop, not a claim about Coca-Cola's internal strategy.</a:t>
            </a:r>
          </a:p>
        </p:txBody>
      </p:sp>
    </p:spTree>
    <p:extLst>
      <p:ext uri="{BB962C8B-B14F-4D97-AF65-F5344CB8AC3E}">
        <p14:creationId xmlns:p14="http://schemas.microsoft.com/office/powerpoint/2010/main" val="2082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i4c0o223k3">
            <a:extLst xmlns:a="http://schemas.openxmlformats.org/drawingml/2006/main">
              <a:ext uri="{FF2B5EF4-FFF2-40B4-BE49-F238E27FC236}">
                <a16:creationId xmlns:a16="http://schemas.microsoft.com/office/drawing/2014/main" id="{03B3BE8F-E528-4FD0-B7AD-A8B5A2E0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levqh8yy6hf">
            <a:extLst xmlns:a="http://schemas.openxmlformats.org/drawingml/2006/main">
              <a:ext uri="{FF2B5EF4-FFF2-40B4-BE49-F238E27FC236}">
                <a16:creationId xmlns:a16="http://schemas.microsoft.com/office/drawing/2014/main" id="{EE72FFD8-CEEA-4440-97EC-B45E756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public signal is a spike, not yet proof of a habit</a:t>
            </a:r>
          </a:p>
        </p:txBody>
      </p:sp>
      <p:sp>
        <p:nvSpPr>
          <p:cNvPr id="3" name="text-1d1f3g3f3vh">
            <a:extLst xmlns:a="http://schemas.openxmlformats.org/drawingml/2006/main">
              <a:ext uri="{FF2B5EF4-FFF2-40B4-BE49-F238E27FC236}">
                <a16:creationId xmlns:a16="http://schemas.microsoft.com/office/drawing/2014/main" id="{0169D75A-01BD-495B-BFAD-D4C61CE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904875" y="33337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16B7C-7784-49AF-8894-E61C6A2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azn5hwxz43s">
            <a:extLst xmlns:a="http://schemas.openxmlformats.org/drawingml/2006/main">
              <a:ext uri="{FF2B5EF4-FFF2-40B4-BE49-F238E27FC236}">
                <a16:creationId xmlns:a16="http://schemas.microsoft.com/office/drawing/2014/main" id="{E01946D6-597D-47DB-A7DC-7995A7A8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6464"/>
                </a:solidFill>
                <a:latin typeface="Arial"/>
                <a:ea typeface="Arial"/>
                <a:cs typeface="Arial"/>
              </a:rPr>
              <a:t>MAHA KUMBH</a:t>
            </a:r>
          </a:p>
        </p:txBody>
      </p:sp>
      <p:sp>
        <p:nvSpPr>
          <p:cNvPr id="7" name="text-hwga9b8dyth">
            <a:extLst xmlns:a="http://schemas.openxmlformats.org/drawingml/2006/main">
              <a:ext uri="{FF2B5EF4-FFF2-40B4-BE49-F238E27FC236}">
                <a16:creationId xmlns:a16="http://schemas.microsoft.com/office/drawing/2014/main" id="{7B0B4410-A7D9-4B0F-B7E4-EBB78956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180M+</a:t>
            </a:r>
          </a:p>
        </p:txBody>
      </p:sp>
      <p:sp>
        <p:nvSpPr>
          <p:cNvPr id="8" name="text-d7r0i3gwsv">
            <a:extLst xmlns:a="http://schemas.openxmlformats.org/drawingml/2006/main">
              <a:ext uri="{FF2B5EF4-FFF2-40B4-BE49-F238E27FC236}">
                <a16:creationId xmlns:a16="http://schemas.microsoft.com/office/drawing/2014/main" id="{238612AF-D1BD-4123-9BE7-D220D0A1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servings reported during the activation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24A76-4ABF-408E-B4BA-CDF29B7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l8vjdsbuets">
            <a:extLst xmlns:a="http://schemas.openxmlformats.org/drawingml/2006/main">
              <a:ext uri="{FF2B5EF4-FFF2-40B4-BE49-F238E27FC236}">
                <a16:creationId xmlns:a16="http://schemas.microsoft.com/office/drawing/2014/main" id="{30CAC378-189F-4046-A018-34658F29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6464"/>
                </a:solidFill>
                <a:latin typeface="Arial"/>
                <a:ea typeface="Arial"/>
                <a:cs typeface="Arial"/>
              </a:rPr>
              <a:t>Q1 2025 INDIA</a:t>
            </a:r>
          </a:p>
        </p:txBody>
      </p:sp>
      <p:sp>
        <p:nvSpPr>
          <p:cNvPr id="11" name="text-zthkiss1fm">
            <a:extLst xmlns:a="http://schemas.openxmlformats.org/drawingml/2006/main">
              <a:ext uri="{FF2B5EF4-FFF2-40B4-BE49-F238E27FC236}">
                <a16:creationId xmlns:a16="http://schemas.microsoft.com/office/drawing/2014/main" id="{34708A5B-FB98-4F2B-8202-1EE7B11E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Double-digit</a:t>
            </a:r>
          </a:p>
        </p:txBody>
      </p:sp>
      <p:sp>
        <p:nvSpPr>
          <p:cNvPr id="12" name="text-cvuwo9utwac">
            <a:extLst xmlns:a="http://schemas.openxmlformats.org/drawingml/2006/main">
              <a:ext uri="{FF2B5EF4-FFF2-40B4-BE49-F238E27FC236}">
                <a16:creationId xmlns:a16="http://schemas.microsoft.com/office/drawing/2014/main" id="{FB556D7C-FD27-463D-A51F-1AF56E8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unit-case volume growth reported for the 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4EA0E-85F8-4B26-83A5-6AE7984D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x1r6k5g74z">
            <a:extLst xmlns:a="http://schemas.openxmlformats.org/drawingml/2006/main">
              <a:ext uri="{FF2B5EF4-FFF2-40B4-BE49-F238E27FC236}">
                <a16:creationId xmlns:a16="http://schemas.microsoft.com/office/drawing/2014/main" id="{39FD3009-9B50-495D-BF20-9D5B4636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6464"/>
                </a:solidFill>
                <a:latin typeface="Arial"/>
                <a:ea typeface="Arial"/>
                <a:cs typeface="Arial"/>
              </a:rPr>
              <a:t>FULL-YEAR 2025</a:t>
            </a:r>
          </a:p>
        </p:txBody>
      </p:sp>
      <p:sp>
        <p:nvSpPr>
          <p:cNvPr id="15" name="text-z36ralp70e">
            <a:extLst xmlns:a="http://schemas.openxmlformats.org/drawingml/2006/main">
              <a:ext uri="{FF2B5EF4-FFF2-40B4-BE49-F238E27FC236}">
                <a16:creationId xmlns:a16="http://schemas.microsoft.com/office/drawing/2014/main" id="{2ADDC7A4-278C-4642-9D2A-2BE5D9A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Even</a:t>
            </a:r>
          </a:p>
        </p:txBody>
      </p:sp>
      <p:sp>
        <p:nvSpPr>
          <p:cNvPr id="16" name="text-vc5itac9xlb">
            <a:extLst xmlns:a="http://schemas.openxmlformats.org/drawingml/2006/main">
              <a:ext uri="{FF2B5EF4-FFF2-40B4-BE49-F238E27FC236}">
                <a16:creationId xmlns:a16="http://schemas.microsoft.com/office/drawing/2014/main" id="{72CA6E9E-FBDC-4260-8000-5BD55DA4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unit-case volume for India and Southwest Asia</a:t>
            </a:r>
          </a:p>
        </p:txBody>
      </p:sp>
      <p:sp>
        <p:nvSpPr>
          <p:cNvPr id="17" name="text-vsjfcytnqb">
            <a:extLst xmlns:a="http://schemas.openxmlformats.org/drawingml/2006/main">
              <a:ext uri="{FF2B5EF4-FFF2-40B4-BE49-F238E27FC236}">
                <a16:creationId xmlns:a16="http://schemas.microsoft.com/office/drawing/2014/main" id="{BD0BE9C9-4B04-4644-8001-1C28524F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My inference</a:t>
            </a:r>
          </a:p>
        </p:txBody>
      </p:sp>
      <p:sp>
        <p:nvSpPr>
          <p:cNvPr id="18" name="text-0pzsn3wg76">
            <a:extLst xmlns:a="http://schemas.openxmlformats.org/drawingml/2006/main">
              <a:ext uri="{FF2B5EF4-FFF2-40B4-BE49-F238E27FC236}">
                <a16:creationId xmlns:a16="http://schemas.microsoft.com/office/drawing/2014/main" id="{C15A6B3F-E451-4970-A5C4-7800F0D5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activation clearly created reach. The full-year number makes repeat the more valuable question. These periods are not directly comparable, so the answer needs an experiment, not a confident story.</a:t>
            </a:r>
          </a:p>
        </p:txBody>
      </p:sp>
    </p:spTree>
    <p:extLst>
      <p:ext uri="{BB962C8B-B14F-4D97-AF65-F5344CB8AC3E}">
        <p14:creationId xmlns:p14="http://schemas.microsoft.com/office/powerpoint/2010/main" val="712681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tmvxdakcea">
            <a:extLst xmlns:a="http://schemas.openxmlformats.org/drawingml/2006/main">
              <a:ext uri="{FF2B5EF4-FFF2-40B4-BE49-F238E27FC236}">
                <a16:creationId xmlns:a16="http://schemas.microsoft.com/office/drawing/2014/main" id="{7EF1E566-FEC6-4145-ABEA-B02CD16A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59zq0go4y1j">
            <a:extLst xmlns:a="http://schemas.openxmlformats.org/drawingml/2006/main">
              <a:ext uri="{FF2B5EF4-FFF2-40B4-BE49-F238E27FC236}">
                <a16:creationId xmlns:a16="http://schemas.microsoft.com/office/drawing/2014/main" id="{827EA383-F867-41F9-81B7-7CA85FEA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Personalization works when the pack becomes a social object</a:t>
            </a:r>
          </a:p>
        </p:txBody>
      </p:sp>
      <p:sp>
        <p:nvSpPr>
          <p:cNvPr id="3" name="text-0orqebwe113">
            <a:extLst xmlns:a="http://schemas.openxmlformats.org/drawingml/2006/main">
              <a:ext uri="{FF2B5EF4-FFF2-40B4-BE49-F238E27FC236}">
                <a16:creationId xmlns:a16="http://schemas.microsoft.com/office/drawing/2014/main" id="{0EDD8A1D-50F0-4E96-8E74-ACDC3EF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edgkn4ctk4">
            <a:extLst xmlns:a="http://schemas.openxmlformats.org/drawingml/2006/main">
              <a:ext uri="{FF2B5EF4-FFF2-40B4-BE49-F238E27FC236}">
                <a16:creationId xmlns:a16="http://schemas.microsoft.com/office/drawing/2014/main" id="{6A895AE3-7BBF-40BC-98E1-A4117BDA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SELF CUE</a:t>
            </a:r>
          </a:p>
        </p:txBody>
      </p:sp>
      <p:sp>
        <p:nvSpPr>
          <p:cNvPr id="5" name="text-zutfjohptfr">
            <a:extLst xmlns:a="http://schemas.openxmlformats.org/drawingml/2006/main">
              <a:ext uri="{FF2B5EF4-FFF2-40B4-BE49-F238E27FC236}">
                <a16:creationId xmlns:a16="http://schemas.microsoft.com/office/drawing/2014/main" id="{D60D3DD0-4C67-4765-98EC-28892752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feels like mine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14350" y="30480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7" name="text-9yiofi7hdes">
            <a:extLst xmlns:a="http://schemas.openxmlformats.org/drawingml/2006/main">
              <a:ext uri="{FF2B5EF4-FFF2-40B4-BE49-F238E27FC236}">
                <a16:creationId xmlns:a16="http://schemas.microsoft.com/office/drawing/2014/main" id="{777612F8-09BF-420B-B9F2-3502D125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Self-referential processing can make brand information easier to remember.</a:t>
            </a:r>
          </a:p>
        </p:txBody>
      </p:sp>
      <p:sp>
        <p:nvSpPr>
          <p:cNvPr id="8" name="text-re6tu5dpwqp">
            <a:extLst xmlns:a="http://schemas.openxmlformats.org/drawingml/2006/main">
              <a:ext uri="{FF2B5EF4-FFF2-40B4-BE49-F238E27FC236}">
                <a16:creationId xmlns:a16="http://schemas.microsoft.com/office/drawing/2014/main" id="{C8227014-783B-495C-97F1-C0BAD1CB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9" name="text-fmia7toaia7">
            <a:extLst xmlns:a="http://schemas.openxmlformats.org/drawingml/2006/main">
              <a:ext uri="{FF2B5EF4-FFF2-40B4-BE49-F238E27FC236}">
                <a16:creationId xmlns:a16="http://schemas.microsoft.com/office/drawing/2014/main" id="{09C812BB-4362-47A8-A979-BABCA14A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 helped choose it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248150" y="30480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1E2B"/>
            </a:solidFill>
            <a:prstDash val="solid"/>
          </a:ln>
        </p:spPr>
      </p:cxnSp>
      <p:sp>
        <p:nvSpPr>
          <p:cNvPr id="11" name="text-9gsfbtb4qx">
            <a:extLst xmlns:a="http://schemas.openxmlformats.org/drawingml/2006/main">
              <a:ext uri="{FF2B5EF4-FFF2-40B4-BE49-F238E27FC236}">
                <a16:creationId xmlns:a16="http://schemas.microsoft.com/office/drawing/2014/main" id="{2EDC6F9E-C058-4DBA-A968-50FB5EE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study on adding a customer's name to a standard product linked the effect to psychological ownership and product attitude.</a:t>
            </a:r>
          </a:p>
        </p:txBody>
      </p:sp>
      <p:sp>
        <p:nvSpPr>
          <p:cNvPr id="12" name="text-zzyjb0icyki">
            <a:extLst xmlns:a="http://schemas.openxmlformats.org/drawingml/2006/main">
              <a:ext uri="{FF2B5EF4-FFF2-40B4-BE49-F238E27FC236}">
                <a16:creationId xmlns:a16="http://schemas.microsoft.com/office/drawing/2014/main" id="{2DC15C96-3ACB-4EBE-932E-687B1CEF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SHARING</a:t>
            </a:r>
          </a:p>
        </p:txBody>
      </p:sp>
      <p:sp>
        <p:nvSpPr>
          <p:cNvPr id="13" name="text-47k8gvegm84">
            <a:extLst xmlns:a="http://schemas.openxmlformats.org/drawingml/2006/main">
              <a:ext uri="{FF2B5EF4-FFF2-40B4-BE49-F238E27FC236}">
                <a16:creationId xmlns:a16="http://schemas.microsoft.com/office/drawing/2014/main" id="{C0EB477C-0EAE-4707-82E4-EF6BBFA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for someone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981950" y="30480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15" name="text-6qyupps0qhi">
            <a:extLst xmlns:a="http://schemas.openxmlformats.org/drawingml/2006/main">
              <a:ext uri="{FF2B5EF4-FFF2-40B4-BE49-F238E27FC236}">
                <a16:creationId xmlns:a16="http://schemas.microsoft.com/office/drawing/2014/main" id="{9C57E11D-BC59-40B2-9595-DA851C0E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 a Coke turns packaging into an invitation to give, post or start a group moment.</a:t>
            </a:r>
          </a:p>
        </p:txBody>
      </p:sp>
      <p:sp>
        <p:nvSpPr>
          <p:cNvPr id="16" name="text-s18g7vhdl7l">
            <a:extLst xmlns:a="http://schemas.openxmlformats.org/drawingml/2006/main">
              <a:ext uri="{FF2B5EF4-FFF2-40B4-BE49-F238E27FC236}">
                <a16:creationId xmlns:a16="http://schemas.microsoft.com/office/drawing/2014/main" id="{B3CAC5AC-FAF0-4CC3-BB54-8148C0F3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Design implication</a:t>
            </a:r>
          </a:p>
        </p:txBody>
      </p:sp>
      <p:sp>
        <p:nvSpPr>
          <p:cNvPr id="17" name="text-igox30jujy9">
            <a:extLst xmlns:a="http://schemas.openxmlformats.org/drawingml/2006/main">
              <a:ext uri="{FF2B5EF4-FFF2-40B4-BE49-F238E27FC236}">
                <a16:creationId xmlns:a16="http://schemas.microsoft.com/office/drawing/2014/main" id="{5D497332-13CA-4903-974A-F970330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67350"/>
            <a:ext cx="919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stop at printing names. Tie the cue to a real relationship and a second occasion that can be observed at the outlet.</a:t>
            </a:r>
          </a:p>
        </p:txBody>
      </p:sp>
    </p:spTree>
    <p:extLst>
      <p:ext uri="{BB962C8B-B14F-4D97-AF65-F5344CB8AC3E}">
        <p14:creationId xmlns:p14="http://schemas.microsoft.com/office/powerpoint/2010/main" val="1188564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we5lh94omgl">
            <a:extLst xmlns:a="http://schemas.openxmlformats.org/drawingml/2006/main">
              <a:ext uri="{FF2B5EF4-FFF2-40B4-BE49-F238E27FC236}">
                <a16:creationId xmlns:a16="http://schemas.microsoft.com/office/drawing/2014/main" id="{98A1245F-088A-468D-A89F-1AC1F23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863lnyvkl8s">
            <a:extLst xmlns:a="http://schemas.openxmlformats.org/drawingml/2006/main">
              <a:ext uri="{FF2B5EF4-FFF2-40B4-BE49-F238E27FC236}">
                <a16:creationId xmlns:a16="http://schemas.microsoft.com/office/drawing/2014/main" id="{533928EE-2602-413E-8BAF-4847294C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2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missing bridge sits between the first share and the second buy</a:t>
            </a:r>
          </a:p>
        </p:txBody>
      </p:sp>
      <p:sp>
        <p:nvSpPr>
          <p:cNvPr id="3" name="text-dzi3qf2bvqd">
            <a:extLst xmlns:a="http://schemas.openxmlformats.org/drawingml/2006/main">
              <a:ext uri="{FF2B5EF4-FFF2-40B4-BE49-F238E27FC236}">
                <a16:creationId xmlns:a16="http://schemas.microsoft.com/office/drawing/2014/main" id="{7F4CBB61-DF41-4DD7-9E78-B4A6AE0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104900" y="292417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7D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4C0A2-4343-4520-80B7-0471076B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abdy2vweyr6">
            <a:extLst xmlns:a="http://schemas.openxmlformats.org/drawingml/2006/main">
              <a:ext uri="{FF2B5EF4-FFF2-40B4-BE49-F238E27FC236}">
                <a16:creationId xmlns:a16="http://schemas.microsoft.com/office/drawing/2014/main" id="{07A6FAA8-3C9D-4BCB-A046-CC02198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-nt3axrosder">
            <a:extLst xmlns:a="http://schemas.openxmlformats.org/drawingml/2006/main">
              <a:ext uri="{FF2B5EF4-FFF2-40B4-BE49-F238E27FC236}">
                <a16:creationId xmlns:a16="http://schemas.microsoft.com/office/drawing/2014/main" id="{8888946E-2B59-4527-9398-AA735438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Moment</a:t>
            </a:r>
          </a:p>
        </p:txBody>
      </p:sp>
      <p:sp>
        <p:nvSpPr>
          <p:cNvPr id="8" name="text-7uxhjaetexm">
            <a:extLst xmlns:a="http://schemas.openxmlformats.org/drawingml/2006/main">
              <a:ext uri="{FF2B5EF4-FFF2-40B4-BE49-F238E27FC236}">
                <a16:creationId xmlns:a16="http://schemas.microsoft.com/office/drawing/2014/main" id="{C630F7D4-D590-4FBB-9356-BD0FAA2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Festival, campus break or group celebration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3371850" y="292417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7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64BFB-0564-4309-836D-A2DA0F98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b7rzevxh5e">
            <a:extLst xmlns:a="http://schemas.openxmlformats.org/drawingml/2006/main">
              <a:ext uri="{FF2B5EF4-FFF2-40B4-BE49-F238E27FC236}">
                <a16:creationId xmlns:a16="http://schemas.microsoft.com/office/drawing/2014/main" id="{F1991C66-B6E4-40C0-9C91-A362EA8F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-j0wu3ah63f">
            <a:extLst xmlns:a="http://schemas.openxmlformats.org/drawingml/2006/main">
              <a:ext uri="{FF2B5EF4-FFF2-40B4-BE49-F238E27FC236}">
                <a16:creationId xmlns:a16="http://schemas.microsoft.com/office/drawing/2014/main" id="{07041645-4A99-47D8-BB7A-84EDC26A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Personal cue</a:t>
            </a:r>
          </a:p>
        </p:txBody>
      </p:sp>
      <p:sp>
        <p:nvSpPr>
          <p:cNvPr id="13" name="text-ib2be7ngdnc">
            <a:extLst xmlns:a="http://schemas.openxmlformats.org/drawingml/2006/main">
              <a:ext uri="{FF2B5EF4-FFF2-40B4-BE49-F238E27FC236}">
                <a16:creationId xmlns:a16="http://schemas.microsoft.com/office/drawing/2014/main" id="{5A757C0C-93F5-44D1-9ADA-A9201C6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Name, role or relationship that feels relevant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5638800" y="292417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7D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BBE46-E192-4398-8651-15A03003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8jyr7g4tttw">
            <a:extLst xmlns:a="http://schemas.openxmlformats.org/drawingml/2006/main">
              <a:ext uri="{FF2B5EF4-FFF2-40B4-BE49-F238E27FC236}">
                <a16:creationId xmlns:a16="http://schemas.microsoft.com/office/drawing/2014/main" id="{311083B1-90B9-441A-AD25-D9102582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-st3tuuorcds">
            <a:extLst xmlns:a="http://schemas.openxmlformats.org/drawingml/2006/main">
              <a:ext uri="{FF2B5EF4-FFF2-40B4-BE49-F238E27FC236}">
                <a16:creationId xmlns:a16="http://schemas.microsoft.com/office/drawing/2014/main" id="{08630EE0-D959-4C56-B951-B3E6A44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76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drink</a:t>
            </a:r>
          </a:p>
        </p:txBody>
      </p:sp>
      <p:sp>
        <p:nvSpPr>
          <p:cNvPr id="18" name="text-6v2twuk0l82">
            <a:extLst xmlns:a="http://schemas.openxmlformats.org/drawingml/2006/main">
              <a:ext uri="{FF2B5EF4-FFF2-40B4-BE49-F238E27FC236}">
                <a16:creationId xmlns:a16="http://schemas.microsoft.com/office/drawing/2014/main" id="{E429FD7C-3783-40B6-B8E8-006B2F05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A visible social action, not passive reach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7905750" y="292417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7D7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E6899-964F-4194-BC42-418C476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47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4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tougedmmh1i">
            <a:extLst xmlns:a="http://schemas.openxmlformats.org/drawingml/2006/main">
              <a:ext uri="{FF2B5EF4-FFF2-40B4-BE49-F238E27FC236}">
                <a16:creationId xmlns:a16="http://schemas.microsoft.com/office/drawing/2014/main" id="{3B98A9CA-755C-4CA0-8DCE-AABFB6EA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-p9nwjljdw8">
            <a:extLst xmlns:a="http://schemas.openxmlformats.org/drawingml/2006/main">
              <a:ext uri="{FF2B5EF4-FFF2-40B4-BE49-F238E27FC236}">
                <a16:creationId xmlns:a16="http://schemas.microsoft.com/office/drawing/2014/main" id="{5CCDD840-EDEF-414B-ABEA-5FBB25D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6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 prompt</a:t>
            </a:r>
          </a:p>
        </p:txBody>
      </p:sp>
      <p:sp>
        <p:nvSpPr>
          <p:cNvPr id="23" name="text-jo4i2ja1bwf">
            <a:extLst xmlns:a="http://schemas.openxmlformats.org/drawingml/2006/main">
              <a:ext uri="{FF2B5EF4-FFF2-40B4-BE49-F238E27FC236}">
                <a16:creationId xmlns:a16="http://schemas.microsoft.com/office/drawing/2014/main" id="{961B909A-46C6-486B-B6FA-62197E7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A clear next occasion within 14 to 30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FFDC9-3804-4A4E-B6B2-2F6FD92C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artp6p5g1fm">
            <a:extLst xmlns:a="http://schemas.openxmlformats.org/drawingml/2006/main">
              <a:ext uri="{FF2B5EF4-FFF2-40B4-BE49-F238E27FC236}">
                <a16:creationId xmlns:a16="http://schemas.microsoft.com/office/drawing/2014/main" id="{8A0F986C-63F4-4D87-97AD-EF0C3DF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text-6t5jqpckbf4">
            <a:extLst xmlns:a="http://schemas.openxmlformats.org/drawingml/2006/main">
              <a:ext uri="{FF2B5EF4-FFF2-40B4-BE49-F238E27FC236}">
                <a16:creationId xmlns:a16="http://schemas.microsoft.com/office/drawing/2014/main" id="{AC313074-2DC7-4450-8301-FF681017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766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ritual</a:t>
            </a:r>
          </a:p>
        </p:txBody>
      </p:sp>
      <p:sp>
        <p:nvSpPr>
          <p:cNvPr id="27" name="text-drf6smeguhk">
            <a:extLst xmlns:a="http://schemas.openxmlformats.org/drawingml/2006/main">
              <a:ext uri="{FF2B5EF4-FFF2-40B4-BE49-F238E27FC236}">
                <a16:creationId xmlns:a16="http://schemas.microsoft.com/office/drawing/2014/main" id="{6685BF93-A972-4085-A4DA-609ED77D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Availability and message stay consistent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6DD39-E3B7-4767-9159-6DCF60C5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1095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eo3te519rgn">
            <a:extLst xmlns:a="http://schemas.openxmlformats.org/drawingml/2006/main">
              <a:ext uri="{FF2B5EF4-FFF2-40B4-BE49-F238E27FC236}">
                <a16:creationId xmlns:a16="http://schemas.microsoft.com/office/drawing/2014/main" id="{AA1B45FE-86A3-42D0-9422-F9F14385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50D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50D17"/>
                </a:solidFill>
                <a:latin typeface="Arial"/>
                <a:ea typeface="Arial"/>
                <a:cs typeface="Arial"/>
              </a:rPr>
              <a:t>Test the bridge. If the second buy does not move, the growth loop has not formed.</a:t>
            </a:r>
          </a:p>
        </p:txBody>
      </p:sp>
    </p:spTree>
    <p:extLst>
      <p:ext uri="{BB962C8B-B14F-4D97-AF65-F5344CB8AC3E}">
        <p14:creationId xmlns:p14="http://schemas.microsoft.com/office/powerpoint/2010/main" val="60015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ezk6t226o95">
            <a:extLst xmlns:a="http://schemas.openxmlformats.org/drawingml/2006/main">
              <a:ext uri="{FF2B5EF4-FFF2-40B4-BE49-F238E27FC236}">
                <a16:creationId xmlns:a16="http://schemas.microsoft.com/office/drawing/2014/main" id="{18D7A80C-2B00-453D-8024-79C1C1CC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2svrulqh2uc">
            <a:extLst xmlns:a="http://schemas.openxmlformats.org/drawingml/2006/main">
              <a:ext uri="{FF2B5EF4-FFF2-40B4-BE49-F238E27FC236}">
                <a16:creationId xmlns:a16="http://schemas.microsoft.com/office/drawing/2014/main" id="{6DC997A7-53FE-4831-B992-A6F93A50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a pilot that can be measured, not admired</a:t>
            </a:r>
          </a:p>
        </p:txBody>
      </p:sp>
      <p:sp>
        <p:nvSpPr>
          <p:cNvPr id="3" name="text-h5a1ht08mbn">
            <a:extLst xmlns:a="http://schemas.openxmlformats.org/drawingml/2006/main">
              <a:ext uri="{FF2B5EF4-FFF2-40B4-BE49-F238E27FC236}">
                <a16:creationId xmlns:a16="http://schemas.microsoft.com/office/drawing/2014/main" id="{2390D1C0-8408-424D-B9D1-B3AC8483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wog7r3p5kd9">
            <a:extLst xmlns:a="http://schemas.openxmlformats.org/drawingml/2006/main">
              <a:ext uri="{FF2B5EF4-FFF2-40B4-BE49-F238E27FC236}">
                <a16:creationId xmlns:a16="http://schemas.microsoft.com/office/drawing/2014/main" id="{061B527C-8E41-43C8-B02B-B72AF3F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6464"/>
                </a:solidFill>
                <a:latin typeface="Arial"/>
                <a:ea typeface="Arial"/>
                <a:cs typeface="Arial"/>
              </a:rPr>
              <a:t>CELL</a:t>
            </a:r>
          </a:p>
        </p:txBody>
      </p:sp>
      <p:sp>
        <p:nvSpPr>
          <p:cNvPr id="5" name="text-i3lh2jgk52">
            <a:extLst xmlns:a="http://schemas.openxmlformats.org/drawingml/2006/main">
              <a:ext uri="{FF2B5EF4-FFF2-40B4-BE49-F238E27FC236}">
                <a16:creationId xmlns:a16="http://schemas.microsoft.com/office/drawing/2014/main" id="{DF22C507-8BF8-4F92-89BB-606CAB7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6464"/>
                </a:solidFill>
                <a:latin typeface="Arial"/>
                <a:ea typeface="Arial"/>
                <a:cs typeface="Arial"/>
              </a:rPr>
              <a:t>TREATMENT</a:t>
            </a:r>
          </a:p>
        </p:txBody>
      </p:sp>
      <p:sp>
        <p:nvSpPr>
          <p:cNvPr id="6" name="text-ku2tlwoiymg">
            <a:extLst xmlns:a="http://schemas.openxmlformats.org/drawingml/2006/main">
              <a:ext uri="{FF2B5EF4-FFF2-40B4-BE49-F238E27FC236}">
                <a16:creationId xmlns:a16="http://schemas.microsoft.com/office/drawing/2014/main" id="{278874EE-34A8-44CD-BD01-C6744EA6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335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6464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14350" y="20383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8" name="text-9zj402b95wh">
            <a:extLst xmlns:a="http://schemas.openxmlformats.org/drawingml/2006/main">
              <a:ext uri="{FF2B5EF4-FFF2-40B4-BE49-F238E27FC236}">
                <a16:creationId xmlns:a16="http://schemas.microsoft.com/office/drawing/2014/main" id="{5170DF22-D7B0-405F-A809-B5A23050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-rxk32hyct2b">
            <a:extLst xmlns:a="http://schemas.openxmlformats.org/drawingml/2006/main">
              <a:ext uri="{FF2B5EF4-FFF2-40B4-BE49-F238E27FC236}">
                <a16:creationId xmlns:a16="http://schemas.microsoft.com/office/drawing/2014/main" id="{2529B5D6-9E31-4EB3-80E1-F8E5E56E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as usual</a:t>
            </a:r>
          </a:p>
        </p:txBody>
      </p:sp>
      <p:sp>
        <p:nvSpPr>
          <p:cNvPr id="10" name="text-ypkltu30mz">
            <a:extLst xmlns:a="http://schemas.openxmlformats.org/drawingml/2006/main">
              <a:ext uri="{FF2B5EF4-FFF2-40B4-BE49-F238E27FC236}">
                <a16:creationId xmlns:a16="http://schemas.microsoft.com/office/drawing/2014/main" id="{85D5F42A-5745-4E78-B348-5654544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assortment, display and communication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30670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12" name="text-59iw1t0pjd7">
            <a:extLst xmlns:a="http://schemas.openxmlformats.org/drawingml/2006/main">
              <a:ext uri="{FF2B5EF4-FFF2-40B4-BE49-F238E27FC236}">
                <a16:creationId xmlns:a16="http://schemas.microsoft.com/office/drawing/2014/main" id="{D1C55945-605E-463D-99B6-9C0A0D2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text-igl3b2awcjl">
            <a:extLst xmlns:a="http://schemas.openxmlformats.org/drawingml/2006/main">
              <a:ext uri="{FF2B5EF4-FFF2-40B4-BE49-F238E27FC236}">
                <a16:creationId xmlns:a16="http://schemas.microsoft.com/office/drawing/2014/main" id="{88E41748-1C10-47D3-B82C-4DD2B49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Personalized occasion cue</a:t>
            </a:r>
          </a:p>
        </p:txBody>
      </p:sp>
      <p:sp>
        <p:nvSpPr>
          <p:cNvPr id="14" name="text-b4o899d2syu">
            <a:extLst xmlns:a="http://schemas.openxmlformats.org/drawingml/2006/main">
              <a:ext uri="{FF2B5EF4-FFF2-40B4-BE49-F238E27FC236}">
                <a16:creationId xmlns:a16="http://schemas.microsoft.com/office/drawing/2014/main" id="{C26D49FE-4599-43E1-A8DD-F5EBE45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Locally reviewed name, role or relationship cue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14350" y="41338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16" name="text-9ca3nh9gclc">
            <a:extLst xmlns:a="http://schemas.openxmlformats.org/drawingml/2006/main">
              <a:ext uri="{FF2B5EF4-FFF2-40B4-BE49-F238E27FC236}">
                <a16:creationId xmlns:a16="http://schemas.microsoft.com/office/drawing/2014/main" id="{0759E8BC-AA2F-443E-8359-9D2B478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text-5zg24cadm7a">
            <a:extLst xmlns:a="http://schemas.openxmlformats.org/drawingml/2006/main">
              <a:ext uri="{FF2B5EF4-FFF2-40B4-BE49-F238E27FC236}">
                <a16:creationId xmlns:a16="http://schemas.microsoft.com/office/drawing/2014/main" id="{AA29A773-9C45-4031-AB59-848D7C8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Cue plus repeat loop</a:t>
            </a:r>
          </a:p>
        </p:txBody>
      </p:sp>
      <p:sp>
        <p:nvSpPr>
          <p:cNvPr id="18" name="text-qa025tmsj6">
            <a:extLst xmlns:a="http://schemas.openxmlformats.org/drawingml/2006/main">
              <a:ext uri="{FF2B5EF4-FFF2-40B4-BE49-F238E27FC236}">
                <a16:creationId xmlns:a16="http://schemas.microsoft.com/office/drawing/2014/main" id="{CB19A98D-9848-4350-9A17-84A0B8F0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Group-share prompt and an opt-in return mechanism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14350" y="52006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20" name="text-b0n15ieviw5">
            <a:extLst xmlns:a="http://schemas.openxmlformats.org/drawingml/2006/main">
              <a:ext uri="{FF2B5EF4-FFF2-40B4-BE49-F238E27FC236}">
                <a16:creationId xmlns:a16="http://schemas.microsoft.com/office/drawing/2014/main" id="{8F787432-E13D-4E2F-B8F4-8D7D2BA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Randomize at outlet cluster level, balance baseline transactions and availability, and pre-register the readout before creative goes live.</a:t>
            </a:r>
          </a:p>
        </p:txBody>
      </p:sp>
    </p:spTree>
    <p:extLst>
      <p:ext uri="{BB962C8B-B14F-4D97-AF65-F5344CB8AC3E}">
        <p14:creationId xmlns:p14="http://schemas.microsoft.com/office/powerpoint/2010/main" val="1266273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chyaykxcsd">
            <a:extLst xmlns:a="http://schemas.openxmlformats.org/drawingml/2006/main">
              <a:ext uri="{FF2B5EF4-FFF2-40B4-BE49-F238E27FC236}">
                <a16:creationId xmlns:a16="http://schemas.microsoft.com/office/drawing/2014/main" id="{308E40C4-4A80-485C-A1A2-C8243F74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46ujwvxn0ye">
            <a:extLst xmlns:a="http://schemas.openxmlformats.org/drawingml/2006/main">
              <a:ext uri="{FF2B5EF4-FFF2-40B4-BE49-F238E27FC236}">
                <a16:creationId xmlns:a16="http://schemas.microsoft.com/office/drawing/2014/main" id="{69505470-B654-482E-AFE3-6C06B72E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Judge the pilot on transactions and repeat</a:t>
            </a:r>
          </a:p>
        </p:txBody>
      </p:sp>
      <p:sp>
        <p:nvSpPr>
          <p:cNvPr id="3" name="text-9urpkv2r73l">
            <a:extLst xmlns:a="http://schemas.openxmlformats.org/drawingml/2006/main">
              <a:ext uri="{FF2B5EF4-FFF2-40B4-BE49-F238E27FC236}">
                <a16:creationId xmlns:a16="http://schemas.microsoft.com/office/drawing/2014/main" id="{1AE46A57-3F5B-4459-A1F4-B431014B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E0D71-F48B-4D28-953C-D809BB17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9zfjtbsd52">
            <a:extLst xmlns:a="http://schemas.openxmlformats.org/drawingml/2006/main">
              <a:ext uri="{FF2B5EF4-FFF2-40B4-BE49-F238E27FC236}">
                <a16:creationId xmlns:a16="http://schemas.microsoft.com/office/drawing/2014/main" id="{A6CD62E2-48BD-449F-9E20-42768C58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metric</a:t>
            </a:r>
          </a:p>
        </p:txBody>
      </p:sp>
      <p:sp>
        <p:nvSpPr>
          <p:cNvPr id="6" name="text-75cn0lkcavl">
            <a:extLst xmlns:a="http://schemas.openxmlformats.org/drawingml/2006/main">
              <a:ext uri="{FF2B5EF4-FFF2-40B4-BE49-F238E27FC236}">
                <a16:creationId xmlns:a16="http://schemas.microsoft.com/office/drawing/2014/main" id="{A0C72AE6-641F-4069-AE08-83DEC2D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90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4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Incremental transactions per eligible outlet</a:t>
            </a:r>
          </a:p>
        </p:txBody>
      </p:sp>
      <p:sp>
        <p:nvSpPr>
          <p:cNvPr id="7" name="text-1v80yfpynu5h">
            <a:extLst xmlns:a="http://schemas.openxmlformats.org/drawingml/2006/main">
              <a:ext uri="{FF2B5EF4-FFF2-40B4-BE49-F238E27FC236}">
                <a16:creationId xmlns:a16="http://schemas.microsoft.com/office/drawing/2014/main" id="{C643F5F6-0113-4080-A625-B024239C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Compared with the balanced control group over the agreed test window</a:t>
            </a:r>
          </a:p>
        </p:txBody>
      </p:sp>
      <p:sp>
        <p:nvSpPr>
          <p:cNvPr id="8" name="text-f2wffttof85">
            <a:extLst xmlns:a="http://schemas.openxmlformats.org/drawingml/2006/main">
              <a:ext uri="{FF2B5EF4-FFF2-40B4-BE49-F238E27FC236}">
                <a16:creationId xmlns:a16="http://schemas.microsoft.com/office/drawing/2014/main" id="{FBC722FC-D014-48A7-8B9A-F2D99374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30-day repeat</a:t>
            </a:r>
          </a:p>
        </p:txBody>
      </p:sp>
      <p:sp>
        <p:nvSpPr>
          <p:cNvPr id="9" name="text-cfj67wlpllb">
            <a:extLst xmlns:a="http://schemas.openxmlformats.org/drawingml/2006/main">
              <a:ext uri="{FF2B5EF4-FFF2-40B4-BE49-F238E27FC236}">
                <a16:creationId xmlns:a16="http://schemas.microsoft.com/office/drawing/2014/main" id="{14385C1B-2903-4367-975F-344B44A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Did the second occasion happen?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019800" y="2276475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11" name="text-oicyoyt25k9">
            <a:extLst xmlns:a="http://schemas.openxmlformats.org/drawingml/2006/main">
              <a:ext uri="{FF2B5EF4-FFF2-40B4-BE49-F238E27FC236}">
                <a16:creationId xmlns:a16="http://schemas.microsoft.com/office/drawing/2014/main" id="{AF78F4BA-C1EF-4BCE-AF8F-83694F5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Gross margin after activation</a:t>
            </a:r>
          </a:p>
        </p:txBody>
      </p:sp>
      <p:sp>
        <p:nvSpPr>
          <p:cNvPr id="12" name="text-lmbb65qbe9t">
            <a:extLst xmlns:a="http://schemas.openxmlformats.org/drawingml/2006/main">
              <a:ext uri="{FF2B5EF4-FFF2-40B4-BE49-F238E27FC236}">
                <a16:creationId xmlns:a16="http://schemas.microsoft.com/office/drawing/2014/main" id="{41ED62DB-08AA-4008-8CAC-ED08506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14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Did the lift pay for the treatment?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019800" y="3095625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14" name="text-7zyd4fmbxy">
            <a:extLst xmlns:a="http://schemas.openxmlformats.org/drawingml/2006/main">
              <a:ext uri="{FF2B5EF4-FFF2-40B4-BE49-F238E27FC236}">
                <a16:creationId xmlns:a16="http://schemas.microsoft.com/office/drawing/2014/main" id="{E4C3A0A6-EF14-4C96-A02C-289FDF7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Stock availability</a:t>
            </a:r>
          </a:p>
        </p:txBody>
      </p:sp>
      <p:sp>
        <p:nvSpPr>
          <p:cNvPr id="15" name="text-v5if8r2msl">
            <a:extLst xmlns:a="http://schemas.openxmlformats.org/drawingml/2006/main">
              <a:ext uri="{FF2B5EF4-FFF2-40B4-BE49-F238E27FC236}">
                <a16:creationId xmlns:a16="http://schemas.microsoft.com/office/drawing/2014/main" id="{489C2833-2D60-4501-B029-0BF86F3B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Could the outlet execute the idea?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019800" y="3914775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17" name="text-xq6yfg4yh">
            <a:extLst xmlns:a="http://schemas.openxmlformats.org/drawingml/2006/main">
              <a:ext uri="{FF2B5EF4-FFF2-40B4-BE49-F238E27FC236}">
                <a16:creationId xmlns:a16="http://schemas.microsoft.com/office/drawing/2014/main" id="{87FF4527-164A-4053-9269-52438FB8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52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Opt-in share behaviour</a:t>
            </a:r>
          </a:p>
        </p:txBody>
      </p:sp>
      <p:sp>
        <p:nvSpPr>
          <p:cNvPr id="18" name="text-wzpi2r214x">
            <a:extLst xmlns:a="http://schemas.openxmlformats.org/drawingml/2006/main">
              <a:ext uri="{FF2B5EF4-FFF2-40B4-BE49-F238E27FC236}">
                <a16:creationId xmlns:a16="http://schemas.microsoft.com/office/drawing/2014/main" id="{858CAE91-0A9B-48CD-B6D4-861C68CA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Did people use the social mechanism?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019800" y="4733925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20" name="text-8568zjvkm7k">
            <a:extLst xmlns:a="http://schemas.openxmlformats.org/drawingml/2006/main">
              <a:ext uri="{FF2B5EF4-FFF2-40B4-BE49-F238E27FC236}">
                <a16:creationId xmlns:a16="http://schemas.microsoft.com/office/drawing/2014/main" id="{A181B9E8-02F7-4026-A388-FC50FF84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72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Retailer compliance</a:t>
            </a:r>
          </a:p>
        </p:txBody>
      </p:sp>
      <p:sp>
        <p:nvSpPr>
          <p:cNvPr id="21" name="text-bncxhnon7x9">
            <a:extLst xmlns:a="http://schemas.openxmlformats.org/drawingml/2006/main">
              <a:ext uri="{FF2B5EF4-FFF2-40B4-BE49-F238E27FC236}">
                <a16:creationId xmlns:a16="http://schemas.microsoft.com/office/drawing/2014/main" id="{684827C9-E332-4F0A-83E5-BC4E0D6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Was the test actually delivered?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019800" y="5553075"/>
            <a:ext cx="5429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7D7"/>
            </a:solidFill>
            <a:prstDash val="solid"/>
          </a:ln>
        </p:spPr>
      </p:cxnSp>
      <p:sp>
        <p:nvSpPr>
          <p:cNvPr id="23" name="text-zex9b0239v">
            <a:extLst xmlns:a="http://schemas.openxmlformats.org/drawingml/2006/main">
              <a:ext uri="{FF2B5EF4-FFF2-40B4-BE49-F238E27FC236}">
                <a16:creationId xmlns:a16="http://schemas.microsoft.com/office/drawing/2014/main" id="{BCF7D4FE-011F-4833-BCAC-99C378C4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scan-rate spike without transaction lift is not a win.</a:t>
            </a:r>
          </a:p>
        </p:txBody>
      </p:sp>
    </p:spTree>
    <p:extLst>
      <p:ext uri="{BB962C8B-B14F-4D97-AF65-F5344CB8AC3E}">
        <p14:creationId xmlns:p14="http://schemas.microsoft.com/office/powerpoint/2010/main" val="710128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w6ie65sp0l">
            <a:extLst xmlns:a="http://schemas.openxmlformats.org/drawingml/2006/main">
              <a:ext uri="{FF2B5EF4-FFF2-40B4-BE49-F238E27FC236}">
                <a16:creationId xmlns:a16="http://schemas.microsoft.com/office/drawing/2014/main" id="{93A8314F-DEBC-48BF-8048-49E3B3E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5xt7tcb0ii3">
            <a:extLst xmlns:a="http://schemas.openxmlformats.org/drawingml/2006/main">
              <a:ext uri="{FF2B5EF4-FFF2-40B4-BE49-F238E27FC236}">
                <a16:creationId xmlns:a16="http://schemas.microsoft.com/office/drawing/2014/main" id="{FBC2F8BD-4005-449D-9B6B-C7EBE692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5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Availability and entry-pack economics decide whether the idea scales</a:t>
            </a:r>
          </a:p>
        </p:txBody>
      </p:sp>
      <p:sp>
        <p:nvSpPr>
          <p:cNvPr id="3" name="text-15nc8f3fk2o">
            <a:extLst xmlns:a="http://schemas.openxmlformats.org/drawingml/2006/main">
              <a:ext uri="{FF2B5EF4-FFF2-40B4-BE49-F238E27FC236}">
                <a16:creationId xmlns:a16="http://schemas.microsoft.com/office/drawing/2014/main" id="{76A79FDD-4D60-4137-95D4-02E679E2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e3h1fy75rja">
            <a:extLst xmlns:a="http://schemas.openxmlformats.org/drawingml/2006/main">
              <a:ext uri="{FF2B5EF4-FFF2-40B4-BE49-F238E27FC236}">
                <a16:creationId xmlns:a16="http://schemas.microsoft.com/office/drawing/2014/main" id="{39B06AC5-A71E-404C-831E-46BCBC62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$47.9B</a:t>
            </a:r>
          </a:p>
        </p:txBody>
      </p:sp>
      <p:sp>
        <p:nvSpPr>
          <p:cNvPr id="5" name="text-ibju2jguqlc">
            <a:extLst xmlns:a="http://schemas.openxmlformats.org/drawingml/2006/main">
              <a:ext uri="{FF2B5EF4-FFF2-40B4-BE49-F238E27FC236}">
                <a16:creationId xmlns:a16="http://schemas.microsoft.com/office/drawing/2014/main" id="{8B2ECAA3-50ED-42FC-98F8-9DA48DCC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2025 net operating revenue</a:t>
            </a:r>
          </a:p>
        </p:txBody>
      </p:sp>
      <p:sp>
        <p:nvSpPr>
          <p:cNvPr id="6" name="text-6j3u7uyj1ct">
            <a:extLst xmlns:a="http://schemas.openxmlformats.org/drawingml/2006/main">
              <a:ext uri="{FF2B5EF4-FFF2-40B4-BE49-F238E27FC236}">
                <a16:creationId xmlns:a16="http://schemas.microsoft.com/office/drawing/2014/main" id="{0997A8E8-BE4B-4075-B1CC-4063B5EB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$5.4B</a:t>
            </a:r>
          </a:p>
        </p:txBody>
      </p:sp>
      <p:sp>
        <p:nvSpPr>
          <p:cNvPr id="7" name="text-zs3nbgv0yu">
            <a:extLst xmlns:a="http://schemas.openxmlformats.org/drawingml/2006/main">
              <a:ext uri="{FF2B5EF4-FFF2-40B4-BE49-F238E27FC236}">
                <a16:creationId xmlns:a16="http://schemas.microsoft.com/office/drawing/2014/main" id="{13A5E801-4A0A-48A0-961A-0C1CA42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2025 advertising expense</a:t>
            </a:r>
          </a:p>
        </p:txBody>
      </p:sp>
      <p:sp>
        <p:nvSpPr>
          <p:cNvPr id="8" name="text-xqp17d97wvb">
            <a:extLst xmlns:a="http://schemas.openxmlformats.org/drawingml/2006/main">
              <a:ext uri="{FF2B5EF4-FFF2-40B4-BE49-F238E27FC236}">
                <a16:creationId xmlns:a16="http://schemas.microsoft.com/office/drawing/2014/main" id="{30B8DF8E-04B7-4C96-B307-FE2B942D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130M+</a:t>
            </a:r>
          </a:p>
        </p:txBody>
      </p:sp>
      <p:sp>
        <p:nvSpPr>
          <p:cNvPr id="9" name="text-bkgald8zqh">
            <a:extLst xmlns:a="http://schemas.openxmlformats.org/drawingml/2006/main">
              <a:ext uri="{FF2B5EF4-FFF2-40B4-BE49-F238E27FC236}">
                <a16:creationId xmlns:a16="http://schemas.microsoft.com/office/drawing/2014/main" id="{2C190361-A8ED-4FD9-909F-873BAB2E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juice transactions added year to date through lower-cost single-serve offers in markets including India and Latin America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514350" y="35242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11" name="text-rulxfst7eo">
            <a:extLst xmlns:a="http://schemas.openxmlformats.org/drawingml/2006/main">
              <a:ext uri="{FF2B5EF4-FFF2-40B4-BE49-F238E27FC236}">
                <a16:creationId xmlns:a16="http://schemas.microsoft.com/office/drawing/2014/main" id="{4FF0313E-0815-4B85-9146-E93280F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My commercial rule</a:t>
            </a:r>
          </a:p>
        </p:txBody>
      </p:sp>
      <p:sp>
        <p:nvSpPr>
          <p:cNvPr id="12" name="text-d9yt7rpv83b">
            <a:extLst xmlns:a="http://schemas.openxmlformats.org/drawingml/2006/main">
              <a:ext uri="{FF2B5EF4-FFF2-40B4-BE49-F238E27FC236}">
                <a16:creationId xmlns:a16="http://schemas.microsoft.com/office/drawing/2014/main" id="{5CCE92E7-3B72-4D5D-8CD5-F30CAFA7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the package, price point and message together, using outlet economics. Do not bolt a creative idea onto a pack that is unavailable or unaffordable in the target moment.</a:t>
            </a:r>
          </a:p>
        </p:txBody>
      </p:sp>
      <p:sp>
        <p:nvSpPr>
          <p:cNvPr id="13" name="text-jfywkv4wkv">
            <a:extLst xmlns:a="http://schemas.openxmlformats.org/drawingml/2006/main">
              <a:ext uri="{FF2B5EF4-FFF2-40B4-BE49-F238E27FC236}">
                <a16:creationId xmlns:a16="http://schemas.microsoft.com/office/drawing/2014/main" id="{D7024093-164E-4AE4-AB7F-39CB0CEB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The 130 million figure relates to juice drinks and multiple markets. I use it as a revenue-growth-management signal, not as a forecast for this pilot.</a:t>
            </a:r>
          </a:p>
        </p:txBody>
      </p:sp>
    </p:spTree>
    <p:extLst>
      <p:ext uri="{BB962C8B-B14F-4D97-AF65-F5344CB8AC3E}">
        <p14:creationId xmlns:p14="http://schemas.microsoft.com/office/powerpoint/2010/main" val="1424404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2ec1ymb2jgq">
            <a:extLst xmlns:a="http://schemas.openxmlformats.org/drawingml/2006/main">
              <a:ext uri="{FF2B5EF4-FFF2-40B4-BE49-F238E27FC236}">
                <a16:creationId xmlns:a16="http://schemas.microsoft.com/office/drawing/2014/main" id="{3D460D40-A573-40F9-A863-DF526DF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COCA-COLA INDIA CONSUMER GROWTH CASE</a:t>
            </a:r>
          </a:p>
        </p:txBody>
      </p:sp>
      <p:sp>
        <p:nvSpPr>
          <p:cNvPr id="2" name="text-a6rpxlkcdg5">
            <a:extLst xmlns:a="http://schemas.openxmlformats.org/drawingml/2006/main">
              <a:ext uri="{FF2B5EF4-FFF2-40B4-BE49-F238E27FC236}">
                <a16:creationId xmlns:a16="http://schemas.microsoft.com/office/drawing/2014/main" id="{3AA431C1-9C8F-449D-8B34-D18A5D91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Ninety days is enough to accept, refine or stop</a:t>
            </a:r>
          </a:p>
        </p:txBody>
      </p:sp>
      <p:sp>
        <p:nvSpPr>
          <p:cNvPr id="3" name="text-jn1svoaz24o">
            <a:extLst xmlns:a="http://schemas.openxmlformats.org/drawingml/2006/main">
              <a:ext uri="{FF2B5EF4-FFF2-40B4-BE49-F238E27FC236}">
                <a16:creationId xmlns:a16="http://schemas.microsoft.com/office/drawing/2014/main" id="{30B6FF2F-E44E-4910-A68B-E1544D1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46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46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857250" y="30670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35DE9-480F-4C9E-9296-E92D34C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n0ivm5avgt">
            <a:extLst xmlns:a="http://schemas.openxmlformats.org/drawingml/2006/main">
              <a:ext uri="{FF2B5EF4-FFF2-40B4-BE49-F238E27FC236}">
                <a16:creationId xmlns:a16="http://schemas.microsoft.com/office/drawing/2014/main" id="{E870E3D7-9796-440C-8725-841CA266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DAYS 1 TO 30</a:t>
            </a:r>
          </a:p>
        </p:txBody>
      </p:sp>
      <p:sp>
        <p:nvSpPr>
          <p:cNvPr id="7" name="text-wqk7mrnm7de">
            <a:extLst xmlns:a="http://schemas.openxmlformats.org/drawingml/2006/main">
              <a:ext uri="{FF2B5EF4-FFF2-40B4-BE49-F238E27FC236}">
                <a16:creationId xmlns:a16="http://schemas.microsoft.com/office/drawing/2014/main" id="{C44B1E70-1FF8-440C-BA3A-D9AEC46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the truth</a:t>
            </a:r>
          </a:p>
        </p:txBody>
      </p:sp>
      <p:sp>
        <p:nvSpPr>
          <p:cNvPr id="8" name="text-qnqwy7md5f">
            <a:extLst xmlns:a="http://schemas.openxmlformats.org/drawingml/2006/main">
              <a:ext uri="{FF2B5EF4-FFF2-40B4-BE49-F238E27FC236}">
                <a16:creationId xmlns:a16="http://schemas.microsoft.com/office/drawing/2014/main" id="{B8362962-B44A-4147-9359-3429D9BA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occasion and outlets. Validate names, cultural fit, packs, economics and data collection.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396C-5788-4B2A-B7BE-BD899B65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j8pcdon6it">
            <a:extLst xmlns:a="http://schemas.openxmlformats.org/drawingml/2006/main">
              <a:ext uri="{FF2B5EF4-FFF2-40B4-BE49-F238E27FC236}">
                <a16:creationId xmlns:a16="http://schemas.microsoft.com/office/drawing/2014/main" id="{94C084FC-A41E-4398-9A89-849B58FE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DAYS 31 TO 60</a:t>
            </a:r>
          </a:p>
        </p:txBody>
      </p:sp>
      <p:sp>
        <p:nvSpPr>
          <p:cNvPr id="11" name="text-nlp9i44g47m">
            <a:extLst xmlns:a="http://schemas.openxmlformats.org/drawingml/2006/main">
              <a:ext uri="{FF2B5EF4-FFF2-40B4-BE49-F238E27FC236}">
                <a16:creationId xmlns:a16="http://schemas.microsoft.com/office/drawing/2014/main" id="{77819624-3E3E-494E-8793-E78BACD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the field test</a:t>
            </a:r>
          </a:p>
        </p:txBody>
      </p:sp>
      <p:sp>
        <p:nvSpPr>
          <p:cNvPr id="12" name="text-8f68xkcwqvc">
            <a:extLst xmlns:a="http://schemas.openxmlformats.org/drawingml/2006/main">
              <a:ext uri="{FF2B5EF4-FFF2-40B4-BE49-F238E27FC236}">
                <a16:creationId xmlns:a16="http://schemas.microsoft.com/office/drawing/2014/main" id="{4FB109D2-73C8-4F67-B6E8-FBE8288F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Launch balanced cells. Monitor availability, compliance and privacy issues before reading uplift.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6DDB3-8DB0-41F6-960D-153F5ADD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ir18c43wqqn">
            <a:extLst xmlns:a="http://schemas.openxmlformats.org/drawingml/2006/main">
              <a:ext uri="{FF2B5EF4-FFF2-40B4-BE49-F238E27FC236}">
                <a16:creationId xmlns:a16="http://schemas.microsoft.com/office/drawing/2014/main" id="{76D2B4BE-A65D-4BA3-9696-7B5C8C18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41E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1E2B"/>
                </a:solidFill>
                <a:latin typeface="Arial"/>
                <a:ea typeface="Arial"/>
                <a:cs typeface="Arial"/>
              </a:rPr>
              <a:t>DAYS 61 TO 90</a:t>
            </a:r>
          </a:p>
        </p:txBody>
      </p:sp>
      <p:sp>
        <p:nvSpPr>
          <p:cNvPr id="15" name="text-0kr8vx725p1m">
            <a:extLst xmlns:a="http://schemas.openxmlformats.org/drawingml/2006/main">
              <a:ext uri="{FF2B5EF4-FFF2-40B4-BE49-F238E27FC236}">
                <a16:creationId xmlns:a16="http://schemas.microsoft.com/office/drawing/2014/main" id="{1B91142D-A7C6-4FD7-9586-1A06CEAF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 the behaviour</a:t>
            </a:r>
          </a:p>
        </p:txBody>
      </p:sp>
      <p:sp>
        <p:nvSpPr>
          <p:cNvPr id="16" name="text-20sv4mars1y">
            <a:extLst xmlns:a="http://schemas.openxmlformats.org/drawingml/2006/main">
              <a:ext uri="{FF2B5EF4-FFF2-40B4-BE49-F238E27FC236}">
                <a16:creationId xmlns:a16="http://schemas.microsoft.com/office/drawing/2014/main" id="{D2B1EB1D-CA64-478D-8C1D-3FA5CFB8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transactions, repeat and margin. Scale the mechanism only if the second occasion moves.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24125-8EB6-405C-A43E-92E32827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ftx2ynpwtj6">
            <a:extLst xmlns:a="http://schemas.openxmlformats.org/drawingml/2006/main">
              <a:ext uri="{FF2B5EF4-FFF2-40B4-BE49-F238E27FC236}">
                <a16:creationId xmlns:a16="http://schemas.microsoft.com/office/drawing/2014/main" id="{0C2344AD-5303-4161-8D8B-109FEB2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Decision: scale, redesign or stop. A polished activation is not the output. A better growth decision is.</a:t>
            </a:r>
          </a:p>
        </p:txBody>
      </p:sp>
    </p:spTree>
    <p:extLst>
      <p:ext uri="{BB962C8B-B14F-4D97-AF65-F5344CB8AC3E}">
        <p14:creationId xmlns:p14="http://schemas.microsoft.com/office/powerpoint/2010/main" val="6214483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4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dihwiirfjsv">
            <a:extLst xmlns:a="http://schemas.openxmlformats.org/drawingml/2006/main">
              <a:ext uri="{FF2B5EF4-FFF2-40B4-BE49-F238E27FC236}">
                <a16:creationId xmlns:a16="http://schemas.microsoft.com/office/drawing/2014/main" id="{42F6AAAA-BDA6-4029-9915-71B76B23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" name="text-1zau4ts97g5">
            <a:extLst xmlns:a="http://schemas.openxmlformats.org/drawingml/2006/main">
              <a:ext uri="{FF2B5EF4-FFF2-40B4-BE49-F238E27FC236}">
                <a16:creationId xmlns:a16="http://schemas.microsoft.com/office/drawing/2014/main" id="{CFC07298-08DC-433F-B1AB-B640088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an occasion-to-habit engine</a:t>
            </a:r>
          </a:p>
        </p:txBody>
      </p:sp>
      <p:sp>
        <p:nvSpPr>
          <p:cNvPr id="3" name="text-zp2pjoagj5r">
            <a:extLst xmlns:a="http://schemas.openxmlformats.org/drawingml/2006/main">
              <a:ext uri="{FF2B5EF4-FFF2-40B4-BE49-F238E27FC236}">
                <a16:creationId xmlns:a16="http://schemas.microsoft.com/office/drawing/2014/main" id="{1A5735A5-9B8E-4D90-9482-50C502F3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828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Start with a real local moment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Use personalization to make the pack socially relevant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Scale only when transactions, repeat and margin move together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571500" y="56197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cxnSp>
      <p:sp>
        <p:nvSpPr>
          <p:cNvPr id="5" name="text-sfw4p47f37n">
            <a:extLst xmlns:a="http://schemas.openxmlformats.org/drawingml/2006/main">
              <a:ext uri="{FF2B5EF4-FFF2-40B4-BE49-F238E27FC236}">
                <a16:creationId xmlns:a16="http://schemas.microsoft.com/office/drawing/2014/main" id="{7D542A8A-5A16-44AE-8CBB-D83D6DA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public-source case study by Keshav Kapoor. I did not work for Coca-Cola.</a:t>
            </a:r>
          </a:p>
        </p:txBody>
      </p:sp>
    </p:spTree>
    <p:extLst>
      <p:ext uri="{BB962C8B-B14F-4D97-AF65-F5344CB8AC3E}">
        <p14:creationId xmlns:p14="http://schemas.microsoft.com/office/powerpoint/2010/main" val="1883392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2026-08-30T05:47:57.9020000Z</dcterms:created>
  <dcterms:modified xsi:type="dcterms:W3CDTF">2026-08-30T05:47:57.9020000Z</dcterms:modified>
</coreProperties>
</file>